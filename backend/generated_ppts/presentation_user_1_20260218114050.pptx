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0A2D"/>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3600" b="1">
                <a:solidFill>
                  <a:srgbClr val="FFB4DC"/>
                </a:solidFill>
                <a:latin typeface="Poppins"/>
              </a:defRPr>
            </a:pPr>
            <a:r>
              <a:t>ai in india</a:t>
            </a:r>
          </a:p>
        </p:txBody>
      </p:sp>
      <p:sp>
        <p:nvSpPr>
          <p:cNvPr id="3" name="TextBox 2"/>
          <p:cNvSpPr txBox="1"/>
          <p:nvPr/>
        </p:nvSpPr>
        <p:spPr>
          <a:xfrm>
            <a:off x="914400" y="3657600"/>
            <a:ext cx="7315200" cy="914400"/>
          </a:xfrm>
          <a:prstGeom prst="rect">
            <a:avLst/>
          </a:prstGeom>
          <a:noFill/>
        </p:spPr>
        <p:txBody>
          <a:bodyPr wrap="square">
            <a:spAutoFit/>
          </a:bodyPr>
          <a:lstStyle/>
          <a:p>
            <a:pPr algn="ctr">
              <a:defRPr sz="2200" b="1">
                <a:solidFill>
                  <a:srgbClr val="DCB4E6"/>
                </a:solidFill>
                <a:latin typeface="Poppins"/>
              </a:defRPr>
            </a:pPr>
            <a:r>
              <a:t>Generated by Cosmic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0A2D"/>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defRPr sz="3600" b="1">
                <a:solidFill>
                  <a:srgbClr val="FFB4DC"/>
                </a:solidFill>
                <a:latin typeface="Poppins"/>
              </a:defRPr>
            </a:pPr>
            <a:r>
              <a:t>Healthcare &amp; Agricultural AI</a:t>
            </a:r>
          </a:p>
        </p:txBody>
      </p:sp>
      <p:sp>
        <p:nvSpPr>
          <p:cNvPr id="3" name="TextBox 2"/>
          <p:cNvSpPr txBox="1"/>
          <p:nvPr/>
        </p:nvSpPr>
        <p:spPr>
          <a:xfrm>
            <a:off x="457200" y="1280160"/>
            <a:ext cx="3840480" cy="3657600"/>
          </a:xfrm>
          <a:prstGeom prst="rect">
            <a:avLst/>
          </a:prstGeom>
          <a:noFill/>
        </p:spPr>
        <p:txBody>
          <a:bodyPr wrap="square">
            <a:spAutoFit/>
          </a:bodyPr>
          <a:lstStyle/>
          <a:p>
            <a:pPr>
              <a:spcBef>
                <a:spcPts val="1000"/>
              </a:spcBef>
              <a:spcAft>
                <a:spcPts val="400"/>
              </a:spcAft>
              <a:defRPr sz="1600" b="1">
                <a:solidFill>
                  <a:srgbClr val="DCB4E6"/>
                </a:solidFill>
                <a:latin typeface="Poppins"/>
              </a:defRPr>
            </a:pPr>
            <a:r>
              <a:t>AI in healthcare diagnostics is revolutionizing early disease detection, with examples like Aravind Eye Care System using AI algorithms to screen for diabetic retinopathy, significantly increasing diagnostic accuracy and reaching remote populations efficiently. This helps prevent irreversible conditions.</a:t>
            </a:r>
          </a:p>
          <a:p>
            <a:pPr>
              <a:spcBef>
                <a:spcPts val="1000"/>
              </a:spcBef>
              <a:spcAft>
                <a:spcPts val="400"/>
              </a:spcAft>
              <a:defRPr sz="1600" b="1">
                <a:solidFill>
                  <a:srgbClr val="DCB4E6"/>
                </a:solidFill>
                <a:latin typeface="Poppins"/>
              </a:defRPr>
            </a:pPr>
            <a:r>
              <a:t>Telemedicine and remote patient monitoring are being enhanced by AI, allowing for continuous data analysis from wearables and home devices to alert clinicians of anomalies. This is crucial for managing chronic diseases and expanding healthcare access in rural areas, reducing the burden on urban hospitals.</a:t>
            </a:r>
          </a:p>
          <a:p>
            <a:pPr>
              <a:spcBef>
                <a:spcPts val="1000"/>
              </a:spcBef>
              <a:spcAft>
                <a:spcPts val="400"/>
              </a:spcAft>
              <a:defRPr sz="1600" b="1">
                <a:solidFill>
                  <a:srgbClr val="DCB4E6"/>
                </a:solidFill>
                <a:latin typeface="Poppins"/>
              </a:defRPr>
            </a:pPr>
            <a:r>
              <a:t>Drug discovery acceleration is leveraging AI algorithms to predict molecular interactions and optimize compound synthesis, drastically reducing the time and cost associated with traditional pharmaceutical R&amp;D. Indian pharma companies are investing in this to bring new treatments to market faster.</a:t>
            </a:r>
          </a:p>
        </p:txBody>
      </p:sp>
      <p:sp>
        <p:nvSpPr>
          <p:cNvPr id="4" name="TextBox 3"/>
          <p:cNvSpPr txBox="1"/>
          <p:nvPr/>
        </p:nvSpPr>
        <p:spPr>
          <a:xfrm>
            <a:off x="4754880" y="1280160"/>
            <a:ext cx="3840480" cy="3657600"/>
          </a:xfrm>
          <a:prstGeom prst="rect">
            <a:avLst/>
          </a:prstGeom>
          <a:noFill/>
        </p:spPr>
        <p:txBody>
          <a:bodyPr wrap="square">
            <a:spAutoFit/>
          </a:bodyPr>
          <a:lstStyle/>
          <a:p>
            <a:pPr>
              <a:spcBef>
                <a:spcPts val="1000"/>
              </a:spcBef>
              <a:spcAft>
                <a:spcPts val="400"/>
              </a:spcAft>
              <a:defRPr sz="1600" b="1">
                <a:solidFill>
                  <a:srgbClr val="DCB4E6"/>
                </a:solidFill>
                <a:latin typeface="Poppins"/>
              </a:defRPr>
            </a:pPr>
            <a:r>
              <a:t>AI in agricultural productivity offers immense potential, with startups like CropIn using predictive analytics based on satellite imagery and weather data to advise farmers on optimal sowing times, irrigation needs, and pest management. This directly impacts food security.</a:t>
            </a:r>
          </a:p>
          <a:p>
            <a:pPr>
              <a:spcBef>
                <a:spcPts val="1000"/>
              </a:spcBef>
              <a:spcAft>
                <a:spcPts val="400"/>
              </a:spcAft>
              <a:defRPr sz="1600" b="1">
                <a:solidFill>
                  <a:srgbClr val="DCB4E6"/>
                </a:solidFill>
                <a:latin typeface="Poppins"/>
              </a:defRPr>
            </a:pPr>
            <a:r>
              <a:t>Precision farming techniques, powered by AI, enable targeted application of water, fertilizers, and pesticides, optimizing resource utilization and minimizing environmental impact. For example, drones equipped with AI cameras can identify specific areas requiring intervention, reducing overall costs for farmers.</a:t>
            </a:r>
          </a:p>
          <a:p>
            <a:pPr>
              <a:spcBef>
                <a:spcPts val="1000"/>
              </a:spcBef>
              <a:spcAft>
                <a:spcPts val="400"/>
              </a:spcAft>
              <a:defRPr sz="1600" b="1">
                <a:solidFill>
                  <a:srgbClr val="DCB4E6"/>
                </a:solidFill>
                <a:latin typeface="Poppins"/>
              </a:defRPr>
            </a:pPr>
            <a:r>
              <a:t>Supply chain management for agricultural produce is being streamlined by AI, reducing post-harvest losses which currently stand at 15-20% for many crops. AI helps predict demand, optimize logistics, and connect farmers more efficiently to markets, ensuring fair prices and reduced wastage.</a:t>
            </a:r>
          </a:p>
          <a:p>
            <a:pPr>
              <a:spcBef>
                <a:spcPts val="1000"/>
              </a:spcBef>
              <a:spcAft>
                <a:spcPts val="400"/>
              </a:spcAft>
              <a:defRPr sz="1600" b="1">
                <a:solidFill>
                  <a:srgbClr val="DCB4E6"/>
                </a:solidFill>
                <a:latin typeface="Poppins"/>
              </a:defRPr>
            </a:pPr>
            <a:r>
              <a:t>Financial inclusion and micro-lending for farmers are being facilitated by AI-driven credit scoring models that analyze non-traditional data points, enabling access to capital for those traditionally excluded from formal banking. This empowers small and marginal farmers to invest in better practices.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0A2D"/>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defRPr sz="3600" b="1">
                <a:solidFill>
                  <a:srgbClr val="FFB4DC"/>
                </a:solidFill>
                <a:latin typeface="Poppins"/>
              </a:defRPr>
            </a:pPr>
            <a:r>
              <a:t>Finance &amp; Education AI</a:t>
            </a:r>
          </a:p>
        </p:txBody>
      </p:sp>
      <p:sp>
        <p:nvSpPr>
          <p:cNvPr id="3" name="TextBox 2"/>
          <p:cNvSpPr txBox="1"/>
          <p:nvPr/>
        </p:nvSpPr>
        <p:spPr>
          <a:xfrm>
            <a:off x="457200" y="1280160"/>
            <a:ext cx="3840480" cy="3657600"/>
          </a:xfrm>
          <a:prstGeom prst="rect">
            <a:avLst/>
          </a:prstGeom>
          <a:noFill/>
        </p:spPr>
        <p:txBody>
          <a:bodyPr wrap="square">
            <a:spAutoFit/>
          </a:bodyPr>
          <a:lstStyle/>
          <a:p>
            <a:pPr>
              <a:spcBef>
                <a:spcPts val="1000"/>
              </a:spcBef>
              <a:spcAft>
                <a:spcPts val="400"/>
              </a:spcAft>
              <a:defRPr sz="1600" b="1">
                <a:solidFill>
                  <a:srgbClr val="DCB4E6"/>
                </a:solidFill>
                <a:latin typeface="Poppins"/>
              </a:defRPr>
            </a:pPr>
            <a:r>
              <a:t>AI in financial services is transforming fraud detection, with Indian banks deploying machine learning models to analyze transaction patterns in real-time, identifying and flagging suspicious activities with over 90% accuracy, significantly reducing financial crime losses. This protects consumers and institutions.</a:t>
            </a:r>
          </a:p>
          <a:p>
            <a:pPr>
              <a:spcBef>
                <a:spcPts val="1000"/>
              </a:spcBef>
              <a:spcAft>
                <a:spcPts val="400"/>
              </a:spcAft>
              <a:defRPr sz="1600" b="1">
                <a:solidFill>
                  <a:srgbClr val="DCB4E6"/>
                </a:solidFill>
                <a:latin typeface="Poppins"/>
              </a:defRPr>
            </a:pPr>
            <a:r>
              <a:t>Personalized banking and credit scoring are democratizing access to financial products, particularly for the underserved. AI algorithms evaluate alternative data (e.g., mobile usage, utility payments) to build credit profiles, enabling micro-loans and tailored financial advice for millions previously outside the credit system.</a:t>
            </a:r>
          </a:p>
          <a:p>
            <a:pPr>
              <a:spcBef>
                <a:spcPts val="1000"/>
              </a:spcBef>
              <a:spcAft>
                <a:spcPts val="400"/>
              </a:spcAft>
              <a:defRPr sz="1600" b="1">
                <a:solidFill>
                  <a:srgbClr val="DCB4E6"/>
                </a:solidFill>
                <a:latin typeface="Poppins"/>
              </a:defRPr>
            </a:pPr>
            <a:r>
              <a:t>Chatbots and virtual assistants are enhancing customer service in banking, providing instant support for queries, processing transactions, and guiding users through complex financial products 24/7. This improves customer satisfaction and reduces operational costs for banks.</a:t>
            </a:r>
          </a:p>
        </p:txBody>
      </p:sp>
      <p:sp>
        <p:nvSpPr>
          <p:cNvPr id="4" name="TextBox 3"/>
          <p:cNvSpPr txBox="1"/>
          <p:nvPr/>
        </p:nvSpPr>
        <p:spPr>
          <a:xfrm>
            <a:off x="4754880" y="1280160"/>
            <a:ext cx="3840480" cy="3657600"/>
          </a:xfrm>
          <a:prstGeom prst="rect">
            <a:avLst/>
          </a:prstGeom>
          <a:noFill/>
        </p:spPr>
        <p:txBody>
          <a:bodyPr wrap="square">
            <a:spAutoFit/>
          </a:bodyPr>
          <a:lstStyle/>
          <a:p>
            <a:pPr>
              <a:spcBef>
                <a:spcPts val="1000"/>
              </a:spcBef>
              <a:spcAft>
                <a:spcPts val="400"/>
              </a:spcAft>
              <a:defRPr sz="1600" b="1">
                <a:solidFill>
                  <a:srgbClr val="DCB4E6"/>
                </a:solidFill>
                <a:latin typeface="Poppins"/>
              </a:defRPr>
            </a:pPr>
            <a:r>
              <a:t>AI in education offers personalized learning paths, adapting content and pace to individual student needs and learning styles. Platforms like BYJU'S use AI to recommend specific lessons and practice problems, ensuring more effective and engaging learning experiences for students across India.</a:t>
            </a:r>
          </a:p>
          <a:p>
            <a:pPr>
              <a:spcBef>
                <a:spcPts val="1000"/>
              </a:spcBef>
              <a:spcAft>
                <a:spcPts val="400"/>
              </a:spcAft>
              <a:defRPr sz="1600" b="1">
                <a:solidFill>
                  <a:srgbClr val="DCB4E6"/>
                </a:solidFill>
                <a:latin typeface="Poppins"/>
              </a:defRPr>
            </a:pPr>
            <a:r>
              <a:t>Smart content creation and adaptive assessment tools are being developed with AI, automating the generation of educational materials and dynamically adjusting difficulty levels in tests based on student performance. This frees up educators' time and provides more accurate evaluations of progress.</a:t>
            </a:r>
          </a:p>
          <a:p>
            <a:pPr>
              <a:spcBef>
                <a:spcPts val="1000"/>
              </a:spcBef>
              <a:spcAft>
                <a:spcPts val="400"/>
              </a:spcAft>
              <a:defRPr sz="1600" b="1">
                <a:solidFill>
                  <a:srgbClr val="DCB4E6"/>
                </a:solidFill>
                <a:latin typeface="Poppins"/>
              </a:defRPr>
            </a:pPr>
            <a:r>
              <a:t>Skilling and upskilling the workforce for the AI economy is a critical focus, with initiatives from NASSCOM and various government bodies offering AI literacy and specialized training programs. This ensures India's workforce remains competitive and adaptable to future job market demands.</a:t>
            </a:r>
          </a:p>
          <a:p>
            <a:pPr>
              <a:spcBef>
                <a:spcPts val="1000"/>
              </a:spcBef>
              <a:spcAft>
                <a:spcPts val="400"/>
              </a:spcAft>
              <a:defRPr sz="1600" b="1">
                <a:solidFill>
                  <a:srgbClr val="DCB4E6"/>
                </a:solidFill>
                <a:latin typeface="Poppins"/>
              </a:defRPr>
            </a:pPr>
            <a:r>
              <a:t>Ed-tech platforms are leveraging AI for accessibility, providing features like AI-powered transcription for hearing-impaired students or text-to-speech for visually impaired learners. This ensures educational content is inclusive and reaches a broader spectrum of the population.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0A2D"/>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defRPr sz="3600" b="1">
                <a:solidFill>
                  <a:srgbClr val="FFB4DC"/>
                </a:solidFill>
                <a:latin typeface="Poppins"/>
              </a:defRPr>
            </a:pPr>
            <a:r>
              <a:t>Ecosystem &amp; Challenges</a:t>
            </a:r>
          </a:p>
        </p:txBody>
      </p:sp>
      <p:sp>
        <p:nvSpPr>
          <p:cNvPr id="3" name="TextBox 2"/>
          <p:cNvSpPr txBox="1"/>
          <p:nvPr/>
        </p:nvSpPr>
        <p:spPr>
          <a:xfrm>
            <a:off x="457200" y="1280160"/>
            <a:ext cx="3840480" cy="3657600"/>
          </a:xfrm>
          <a:prstGeom prst="rect">
            <a:avLst/>
          </a:prstGeom>
          <a:noFill/>
        </p:spPr>
        <p:txBody>
          <a:bodyPr wrap="square">
            <a:spAutoFit/>
          </a:bodyPr>
          <a:lstStyle/>
          <a:p>
            <a:pPr>
              <a:spcBef>
                <a:spcPts val="1000"/>
              </a:spcBef>
              <a:spcAft>
                <a:spcPts val="400"/>
              </a:spcAft>
              <a:defRPr sz="1600" b="1">
                <a:solidFill>
                  <a:srgbClr val="DCB4E6"/>
                </a:solidFill>
                <a:latin typeface="Poppins"/>
              </a:defRPr>
            </a:pPr>
            <a:r>
              <a:t>India's vibrant startup ecosystem is experiencing robust growth in AI, with over 3,000 AI startups founded in the last five years, attracting significant VC funding. Incubators and accelerators across Bangalore, Hyderabad, and Delhi are vital in nurturing innovation and commercialization of AI solutions.</a:t>
            </a:r>
          </a:p>
          <a:p>
            <a:pPr>
              <a:spcBef>
                <a:spcPts val="1000"/>
              </a:spcBef>
              <a:spcAft>
                <a:spcPts val="400"/>
              </a:spcAft>
              <a:defRPr sz="1600" b="1">
                <a:solidFill>
                  <a:srgbClr val="DCB4E6"/>
                </a:solidFill>
                <a:latin typeface="Poppins"/>
              </a:defRPr>
            </a:pPr>
            <a:r>
              <a:t>Investment in R&amp;D and the proliferation of innovation hubs, particularly within premier institutions like the IITs and IISc, are crucial drivers for cutting-edge AI research. These centers are generating foundational intellectual property and fostering a culture of scientific inquiry.</a:t>
            </a:r>
          </a:p>
          <a:p>
            <a:pPr>
              <a:spcBef>
                <a:spcPts val="1000"/>
              </a:spcBef>
              <a:spcAft>
                <a:spcPts val="400"/>
              </a:spcAft>
              <a:defRPr sz="1600" b="1">
                <a:solidFill>
                  <a:srgbClr val="DCB4E6"/>
                </a:solidFill>
                <a:latin typeface="Poppins"/>
              </a:defRPr>
            </a:pPr>
            <a:r>
              <a:t>Data infrastructure and availability pose significant challenges, particularly high-quality, labeled datasets necessary for training sophisticated AI models, especially in regional languages and specific domain contexts like healthcare. Addressing this is vital for effective deployment.</a:t>
            </a:r>
          </a:p>
        </p:txBody>
      </p:sp>
      <p:sp>
        <p:nvSpPr>
          <p:cNvPr id="4" name="TextBox 3"/>
          <p:cNvSpPr txBox="1"/>
          <p:nvPr/>
        </p:nvSpPr>
        <p:spPr>
          <a:xfrm>
            <a:off x="4754880" y="1280160"/>
            <a:ext cx="3840480" cy="3657600"/>
          </a:xfrm>
          <a:prstGeom prst="rect">
            <a:avLst/>
          </a:prstGeom>
          <a:noFill/>
        </p:spPr>
        <p:txBody>
          <a:bodyPr wrap="square">
            <a:spAutoFit/>
          </a:bodyPr>
          <a:lstStyle/>
          <a:p>
            <a:pPr>
              <a:spcBef>
                <a:spcPts val="1000"/>
              </a:spcBef>
              <a:spcAft>
                <a:spcPts val="400"/>
              </a:spcAft>
              <a:defRPr sz="1600" b="1">
                <a:solidFill>
                  <a:srgbClr val="DCB4E6"/>
                </a:solidFill>
                <a:latin typeface="Poppins"/>
              </a:defRPr>
            </a:pPr>
            <a:r>
              <a:t>The persistent skill gap and talent development needs are a major hurdle, with a shortage of specialized AI engineers, data scientists, and ethicists. Despite a large talent pool, upskilling initiatives must accelerate to meet the rapidly expanding industry demand.</a:t>
            </a:r>
          </a:p>
          <a:p>
            <a:pPr>
              <a:spcBef>
                <a:spcPts val="1000"/>
              </a:spcBef>
              <a:spcAft>
                <a:spcPts val="400"/>
              </a:spcAft>
              <a:defRPr sz="1600" b="1">
                <a:solidFill>
                  <a:srgbClr val="DCB4E6"/>
                </a:solidFill>
                <a:latin typeface="Poppins"/>
              </a:defRPr>
            </a:pPr>
            <a:r>
              <a:t>Ethical AI concerns, including algorithmic bias, transparency (explainability), and fairness, are paramount. Instances of gender or caste bias in AI applications could exacerbate existing societal inequalities, necessitating robust ethical guidelines and testing frameworks.</a:t>
            </a:r>
          </a:p>
          <a:p>
            <a:pPr>
              <a:spcBef>
                <a:spcPts val="1000"/>
              </a:spcBef>
              <a:spcAft>
                <a:spcPts val="400"/>
              </a:spcAft>
              <a:defRPr sz="1600" b="1">
                <a:solidFill>
                  <a:srgbClr val="DCB4E6"/>
                </a:solidFill>
                <a:latin typeface="Poppins"/>
              </a:defRPr>
            </a:pPr>
            <a:r>
              <a:t>The regulatory landscape and policy implementation for AI are evolving, with India still formulating comprehensive laws around data privacy (e.g., Digital Personal Data Protection Act, 2023) and AI governance. Clear and forward-thinking regulations are essential for guiding responsible innovation.</a:t>
            </a:r>
          </a:p>
          <a:p>
            <a:pPr>
              <a:spcBef>
                <a:spcPts val="1000"/>
              </a:spcBef>
              <a:spcAft>
                <a:spcPts val="400"/>
              </a:spcAft>
              <a:defRPr sz="1600" b="1">
                <a:solidFill>
                  <a:srgbClr val="DCB4E6"/>
                </a:solidFill>
                <a:latin typeface="Poppins"/>
              </a:defRPr>
            </a:pPr>
            <a:r>
              <a:t>Cybersecurity implications and data privacy are critical considerations, as AI systems often process vast amounts of sensitive information, making them targets for cyberattacks. Robust security protocols and compliance with privacy laws are non-negotiable for building trust and ensuring data integrity.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0A2D"/>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defRPr sz="3600" b="1">
                <a:solidFill>
                  <a:srgbClr val="FFB4DC"/>
                </a:solidFill>
                <a:latin typeface="Poppins"/>
              </a:defRPr>
            </a:pPr>
            <a:r>
              <a:t>Future Outlook &amp; Recommendations</a:t>
            </a:r>
          </a:p>
        </p:txBody>
      </p:sp>
      <p:sp>
        <p:nvSpPr>
          <p:cNvPr id="3" name="TextBox 2"/>
          <p:cNvSpPr txBox="1"/>
          <p:nvPr/>
        </p:nvSpPr>
        <p:spPr>
          <a:xfrm>
            <a:off x="457200" y="1280160"/>
            <a:ext cx="3840480" cy="3657600"/>
          </a:xfrm>
          <a:prstGeom prst="rect">
            <a:avLst/>
          </a:prstGeom>
          <a:noFill/>
        </p:spPr>
        <p:txBody>
          <a:bodyPr wrap="square">
            <a:spAutoFit/>
          </a:bodyPr>
          <a:lstStyle/>
          <a:p>
            <a:pPr>
              <a:spcBef>
                <a:spcPts val="1000"/>
              </a:spcBef>
              <a:spcAft>
                <a:spcPts val="400"/>
              </a:spcAft>
              <a:defRPr sz="1600" b="1">
                <a:solidFill>
                  <a:srgbClr val="DCB4E6"/>
                </a:solidFill>
                <a:latin typeface="Poppins"/>
              </a:defRPr>
            </a:pPr>
            <a:r>
              <a:t>India's roadmap for becoming a global AI leader involves strategic investments in research, talent, and infrastructure, aiming to establish itself as a hub for both AI consumption and innovation, particularly in areas like responsible AI and AI for social good.</a:t>
            </a:r>
          </a:p>
          <a:p>
            <a:pPr>
              <a:spcBef>
                <a:spcPts val="1000"/>
              </a:spcBef>
              <a:spcAft>
                <a:spcPts val="400"/>
              </a:spcAft>
              <a:defRPr sz="1600" b="1">
                <a:solidFill>
                  <a:srgbClr val="DCB4E6"/>
                </a:solidFill>
                <a:latin typeface="Poppins"/>
              </a:defRPr>
            </a:pPr>
            <a:r>
              <a:t>Increased public-private partnerships (PPPs) are essential to accelerate AI adoption and development, pooling resources, expertise, and mitigating risks. Collaborations between government bodies, industry, and academia can unlock new opportunities and overcome scalability challenges.</a:t>
            </a:r>
          </a:p>
          <a:p>
            <a:pPr>
              <a:spcBef>
                <a:spcPts val="1000"/>
              </a:spcBef>
              <a:spcAft>
                <a:spcPts val="400"/>
              </a:spcAft>
              <a:defRPr sz="1600" b="1">
                <a:solidFill>
                  <a:srgbClr val="DCB4E6"/>
                </a:solidFill>
                <a:latin typeface="Poppins"/>
              </a:defRPr>
            </a:pPr>
            <a:r>
              <a:t>Sustained investment in cutting-edge research and innovation, especially in foundational AI areas like natural language processing for Indian languages, computer vision for diverse contexts, and quantum AI, will be crucial for maintaining technological leadership.</a:t>
            </a:r>
          </a:p>
        </p:txBody>
      </p:sp>
      <p:sp>
        <p:nvSpPr>
          <p:cNvPr id="4" name="TextBox 3"/>
          <p:cNvSpPr txBox="1"/>
          <p:nvPr/>
        </p:nvSpPr>
        <p:spPr>
          <a:xfrm>
            <a:off x="4754880" y="1280160"/>
            <a:ext cx="3840480" cy="3657600"/>
          </a:xfrm>
          <a:prstGeom prst="rect">
            <a:avLst/>
          </a:prstGeom>
          <a:noFill/>
        </p:spPr>
        <p:txBody>
          <a:bodyPr wrap="square">
            <a:spAutoFit/>
          </a:bodyPr>
          <a:lstStyle/>
          <a:p>
            <a:pPr>
              <a:spcBef>
                <a:spcPts val="1000"/>
              </a:spcBef>
              <a:spcAft>
                <a:spcPts val="400"/>
              </a:spcAft>
              <a:defRPr sz="1600" b="1">
                <a:solidFill>
                  <a:srgbClr val="DCB4E6"/>
                </a:solidFill>
                <a:latin typeface="Poppins"/>
              </a:defRPr>
            </a:pPr>
            <a:r>
              <a:t>Fostering an inclusive AI ecosystem requires active participation from diverse stakeholders, including women, rural communities, and SMEs, ensuring that the benefits of AI are widely distributed and that varied perspectives inform AI development.</a:t>
            </a:r>
          </a:p>
          <a:p>
            <a:pPr>
              <a:spcBef>
                <a:spcPts val="1000"/>
              </a:spcBef>
              <a:spcAft>
                <a:spcPts val="400"/>
              </a:spcAft>
              <a:defRPr sz="1600" b="1">
                <a:solidFill>
                  <a:srgbClr val="DCB4E6"/>
                </a:solidFill>
                <a:latin typeface="Poppins"/>
              </a:defRPr>
            </a:pPr>
            <a:r>
              <a:t>Implementing robust data localization and privacy frameworks, such as the Digital Personal Data Protection Act, 2023, is critical for safeguarding citizen data while enabling secure AI development and deployment within national boundaries.</a:t>
            </a:r>
          </a:p>
          <a:p>
            <a:pPr>
              <a:spcBef>
                <a:spcPts val="1000"/>
              </a:spcBef>
              <a:spcAft>
                <a:spcPts val="400"/>
              </a:spcAft>
              <a:defRPr sz="1600" b="1">
                <a:solidFill>
                  <a:srgbClr val="DCB4E6"/>
                </a:solidFill>
                <a:latin typeface="Poppins"/>
              </a:defRPr>
            </a:pPr>
            <a:r>
              <a:t>International collaboration for AI standards and governance frameworks is vital for India to influence global AI norms, ensuring that ethical considerations, interoperability, and responsible use are prioritized across borders.</a:t>
            </a:r>
          </a:p>
          <a:p>
            <a:pPr>
              <a:spcBef>
                <a:spcPts val="1000"/>
              </a:spcBef>
              <a:spcAft>
                <a:spcPts val="400"/>
              </a:spcAft>
              <a:defRPr sz="1600" b="1">
                <a:solidFill>
                  <a:srgbClr val="DCB4E6"/>
                </a:solidFill>
                <a:latin typeface="Poppins"/>
              </a:defRPr>
            </a:pPr>
            <a:r>
              <a:t>Continuous workforce development and reskilling programs, integrated into national education policies and industry training initiatives, are paramount to equip the population with the necessary skills to thrive in an AI-driven economy, mitigating potential job displacement.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