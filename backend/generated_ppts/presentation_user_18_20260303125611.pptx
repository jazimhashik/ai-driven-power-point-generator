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embeddedFontLst>
    <p:embeddedFont>
      <p:font typeface="Poppins" charset="0"/>
      <p:regular r:id="rId13"/>
      <p:bold r:id="rId14"/>
      <p: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Machine 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E6FF"/>
                </a:solidFill>
                <a:latin typeface="Garamond"/>
              </a:defRPr>
            </a:pPr>
            <a:r>
              <a:rPr sz="22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Evolution and Current State of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Historical Milestones: From early neural network concepts in the 1950s to the deep learning revolution of the 2010s, ML has evolved significantly with computational advancements.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Data Abundance Catalyst: The explosion of big data from IoT devices, social media, and digital transactions has provided the necessary fuel for training sophisticated ML models effectively.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Cloud Computing's Role: Cloud platforms have democratized ML by offering scalable infrastructure, pre-built services, and GPU resources, making advanced computing accessible to more organizations.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Industry-Wide Adoption: ML is now a critical component in sectors like healthcare, finance, retail, and manufacturing, driving innovation and optimizing operational efficiencies across the board.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Market Growth Trajectory: The global ML market is projected to grow from $26 billion in 2023 to over $200 billion by 2030, indicating its widespread strategic importance and investment.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Key Capabilities and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Predictive Accuracy: ML models achieve high precision in forecasting trends, like consumer demand or equipment failure, often outperforming traditional statistical methods by up to 20%.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Pattern Recognition: They excel at uncovering complex, hidden patterns in large datasets, for instance, identifying subtle indicators of fraud or medical conditions that humans might overlook.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Automation Efficiency: ML automates repetitive, rule-based tasks and processes, leading to significant cost reductions, with some companies reporting up to 40% operational savings.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Data Bias Risks: A critical challenge involves algorithmic bias stemming from unrepresentative or prejudiced training data, which can lead to unfair outcomes and necessitate rigorous ethical review.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Model Explainability: The "black box" nature of complex ML models, particularly deep learning, poses a challenge in understanding their decision-making process, hindering trust and regulatory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Real-World Impact and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Healthcare Diagnostics: ML-powered image recognition tools can detect diseases like cancer with up to 90% accuracy, sometimes even earlier than human experts, improving patient outcomes.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Financial Fraud Detection: Major banks use ML systems that block over 95% of attempted fraudulent transactions, saving the industry billions of dollars annually by identifying anomalies in real-time.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Personalized Recommendations: E-commerce giants attribute up to 35% of their revenue to ML-driven recommendation engines that personalize shopping experiences for individual users.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Manufacturing Optimization: Predictive maintenance models in manufacturing reduce equipment downtime by an average of 15-20% by foreseeing potential failures and scheduling proactive repairs.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Autonomous Vehicles: Self-driving cars leverage ML for processing vast sensor data, enabling navigation and decision-making, with billions of simulated miles used for robust algorithm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Strategic Imperatives for ML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83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Ethical AI Frameworks: Implement clear ethical guidelines and governance structures to ensure fairness, transparency, and accountability in the development and deployment of ML systems.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Talent Development: Invest in continuous learning programs and skill development initiatives to cultivate a strong workforce proficient in ML engineering, data science, and ethical AI practices.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Data Governance: Establish robust data quality management, privacy protocols, and security measures to ensure that training data is reliable, unbiased, and compliant with evolving regulations.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MLOps Integration: Adopt Machine Learning Operations (MLOps) best practices to streamline the entire ML lifecycle, from model development and deployment to continuous monitoring and retraining.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Garamond"/>
              </a:defRPr>
            </a:pPr>
            <a:r>
              <a:rPr sz="16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• Research &amp; Innovation: Continuously allocate resources to explore new ML algorithms, overcome current limitations, and apply cutting-edge techniques to solve increasingly complex business and societal challenges.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Thank You!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E6FF"/>
                </a:solidFill>
                <a:latin typeface="Garamond"/>
              </a:defRPr>
            </a:pPr>
            <a:r>
              <a:rPr sz="2200" b="1">
                <a:solidFill>
                  <a:srgbClr val="C8E6FF"/>
                </a:solidFill>
                <a:latin typeface="Garamond"/>
                <a:cs typeface="Garamond"/>
                <a:ea typeface="Garamond"/>
              </a:rPr>
              <a:t>We appreciate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