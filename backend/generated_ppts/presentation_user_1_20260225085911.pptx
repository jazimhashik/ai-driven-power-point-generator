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3600" b="1">
                <a:solidFill>
                  <a:srgbClr val="8AB4FF"/>
                </a:solidFill>
                <a:latin typeface="Arial"/>
              </a:defRPr>
            </a:pPr>
            <a:r>
              <a:t>cybercrime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Common Cybercrime Tactics Explored</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Phishing and Social Engineering: These pervasive tactics account for over 80% of reported security incidents, leveraging human psychology to trick individuals into revealing sensitive information or executing malicious actions, often disguised as legitimate communications from trusted sources like IT support or banks. Employee security awareness training is paramount to counter this human element vulnerability.</a:t>
            </a:r>
          </a:p>
          <a:p>
            <a:pPr>
              <a:spcBef>
                <a:spcPts val="600"/>
              </a:spcBef>
              <a:spcAft>
                <a:spcPts val="300"/>
              </a:spcAft>
              <a:defRPr sz="1600" b="1">
                <a:solidFill>
                  <a:srgbClr val="C8DCFF"/>
                </a:solidFill>
                <a:latin typeface="Arial"/>
              </a:defRPr>
            </a:pPr>
            <a:r>
              <a:t>Ransomware Attacks: Malicious software encrypts critical data, demanding payment (often in cryptocurrency) for its release, exemplified by the Colonial Pipeline attack which severely disrupted fuel supply. The average ransom payment has surged, often exceeding $1 million, making it a highly profitable enterprise for cybercriminals and a major business continuity risk.</a:t>
            </a:r>
          </a:p>
          <a:p>
            <a:pPr>
              <a:spcBef>
                <a:spcPts val="600"/>
              </a:spcBef>
              <a:spcAft>
                <a:spcPts val="300"/>
              </a:spcAft>
              <a:defRPr sz="1600" b="1">
                <a:solidFill>
                  <a:srgbClr val="C8DCFF"/>
                </a:solidFill>
                <a:latin typeface="Arial"/>
              </a:defRPr>
            </a:pPr>
            <a:r>
              <a:t>Malware and Advanced Persistent Threats (APTs): Malware, including viruses, worms, and trojans, infiltrates systems to steal data or disrupt operations. APTs represent highly sophisticated, stealthy, and prolonged attacks, often state-sponsored, designed to achieve specific intelligence-gathering objectives over extended periods, making their detection and eradication extremely challenging.</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DDoS (Distributed Denial of Service) Attacks: These attacks overwhelm a target server or network with a flood of internet traffic from multiple compromised systems, rendering services unavailable. DDoS attacks can disrupt e-commerce platforms, government websites, and critical infrastructure, costing businesses significant downtime, lost revenue, and reputational damage.</a:t>
            </a:r>
          </a:p>
          <a:p>
            <a:pPr>
              <a:spcBef>
                <a:spcPts val="600"/>
              </a:spcBef>
              <a:spcAft>
                <a:spcPts val="300"/>
              </a:spcAft>
              <a:defRPr sz="1600" b="1">
                <a:solidFill>
                  <a:srgbClr val="C8DCFF"/>
                </a:solidFill>
                <a:latin typeface="Arial"/>
              </a:defRPr>
            </a:pPr>
            <a:r>
              <a:t>Insider Threats: Malicious or negligent actions by current or former employees, contractors, or business partners. Insiders have privileged access, making their actions potentially more damaging. Data exfiltration or sabotage, driven by disgruntled employees or accidental misconfigurations, poses a significant risk that often bypasses external defenses.</a:t>
            </a:r>
          </a:p>
          <a:p>
            <a:pPr>
              <a:spcBef>
                <a:spcPts val="600"/>
              </a:spcBef>
              <a:spcAft>
                <a:spcPts val="300"/>
              </a:spcAft>
              <a:defRPr sz="1600" b="1">
                <a:solidFill>
                  <a:srgbClr val="C8DCFF"/>
                </a:solidFill>
                <a:latin typeface="Arial"/>
              </a:defRPr>
            </a:pPr>
            <a:r>
              <a:t>Supply Chain Attacks: These sophisticated attacks target vulnerabilities in an organization's supply chain to gain unauthorized access to the primary target, as devastatingly demonstrated by the SolarWinds breach. Compromising a less secure vendor or software component can provide a backdoor into numerous high-value targets, emphasizing the need for robust third-party risk management.</a:t>
            </a:r>
          </a:p>
          <a:p>
            <a:pPr>
              <a:spcBef>
                <a:spcPts val="600"/>
              </a:spcBef>
              <a:spcAft>
                <a:spcPts val="300"/>
              </a:spcAft>
              <a:defRPr sz="1600" b="1">
                <a:solidFill>
                  <a:srgbClr val="C8DCFF"/>
                </a:solidFill>
                <a:latin typeface="Arial"/>
              </a:defRPr>
            </a:pPr>
            <a:r>
              <a:t>Identity Theft and Credential Stuffing: Stealing personal identifiable information (PII) to impersonate individuals for financial gain, or using credentials obtained from one breach to attempt logins on other services (credential stuffing). This directly impacts individual privacy, corporate security, and requires strong authentication methods and proactive monitoring of compromised credentials.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Economic and Operational Impact</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Direct Financial Losses: These include monetary theft (e.g., banking fraud, credit card fraud), ransom payments, and significant costs associated with forensic investigations, data recovery, and system remediation. IBM's 2023 Cost of a Data Breach Report cited an average global cost of $4.45 million per breach, a substantial burden for any organization.</a:t>
            </a:r>
          </a:p>
          <a:p>
            <a:pPr>
              <a:spcBef>
                <a:spcPts val="600"/>
              </a:spcBef>
              <a:spcAft>
                <a:spcPts val="300"/>
              </a:spcAft>
              <a:defRPr sz="1600" b="1">
                <a:solidFill>
                  <a:srgbClr val="C8DCFF"/>
                </a:solidFill>
                <a:latin typeface="Arial"/>
              </a:defRPr>
            </a:pPr>
            <a:r>
              <a:t>Business Interruption and Downtime: Cyberattacks can halt critical operations, leading to lost productivity, missed deadlines, and inability to serve customers. For instance, a ransomware attack on a manufacturing plant can cease production entirely, resulting in millions in lost revenue per day and impacting global supply chains.</a:t>
            </a:r>
          </a:p>
          <a:p>
            <a:pPr>
              <a:spcBef>
                <a:spcPts val="600"/>
              </a:spcBef>
              <a:spcAft>
                <a:spcPts val="300"/>
              </a:spcAft>
              <a:defRPr sz="1600" b="1">
                <a:solidFill>
                  <a:srgbClr val="C8DCFF"/>
                </a:solidFill>
                <a:latin typeface="Arial"/>
              </a:defRPr>
            </a:pPr>
            <a:r>
              <a:t>Legal and Regulatory Fines: Non-compliance with data protection regulations (e.g., GDPR fines can reach €20 million or 4% of annual global turnover) and industry standards results in substantial penalties, compounding the financial aftermath of a breach. Lawsuits from affected parties further escalate legal expenses and operational burden.</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Reputational Damage and Loss of Trust: A public data breach profoundly erodes customer confidence and trust, potentially leading to customer churn, difficulty attracting new clients, and a decline in brand value. This intangible cost can be far more damaging long-term than direct financial losses, as rebuilding a positive reputation takes years of sustained effort.</a:t>
            </a:r>
          </a:p>
          <a:p>
            <a:pPr>
              <a:spcBef>
                <a:spcPts val="600"/>
              </a:spcBef>
              <a:spcAft>
                <a:spcPts val="300"/>
              </a:spcAft>
              <a:defRPr sz="1600" b="1">
                <a:solidFill>
                  <a:srgbClr val="C8DCFF"/>
                </a:solidFill>
                <a:latin typeface="Arial"/>
              </a:defRPr>
            </a:pPr>
            <a:r>
              <a:t>Intellectual Property (IP) Theft: The loss of trade secrets, proprietary technology, and research &amp; development data can severely undermine a company's competitive advantage and market position. This type of corporate espionage, often state-sponsored, poses an existential threat to innovation-driven businesses and their market future.</a:t>
            </a:r>
          </a:p>
          <a:p>
            <a:pPr>
              <a:spcBef>
                <a:spcPts val="600"/>
              </a:spcBef>
              <a:spcAft>
                <a:spcPts val="300"/>
              </a:spcAft>
              <a:defRPr sz="1600" b="1">
                <a:solidFill>
                  <a:srgbClr val="C8DCFF"/>
                </a:solidFill>
                <a:latin typeface="Arial"/>
              </a:defRPr>
            </a:pPr>
            <a:r>
              <a:t>Increased Insurance Premiums: Following a cyber incident, organizations often face significantly higher premiums for cyber insurance, or even struggle to obtain coverage, reflecting their elevated risk profile. This impacts ongoing operational costs and necessitates a re-evaluation of overall risk management and insurance strategies.</a:t>
            </a:r>
          </a:p>
          <a:p>
            <a:pPr>
              <a:spcBef>
                <a:spcPts val="600"/>
              </a:spcBef>
              <a:spcAft>
                <a:spcPts val="300"/>
              </a:spcAft>
              <a:defRPr sz="1600" b="1">
                <a:solidFill>
                  <a:srgbClr val="C8DCFF"/>
                </a:solidFill>
                <a:latin typeface="Arial"/>
              </a:defRPr>
            </a:pPr>
            <a:r>
              <a:t>Operational Complexity and Resource Diversion: Post-breach, organizations must divert significant internal resources (IT, legal, PR, executive leadership) from core business functions to crisis management, intensive investigation, and recovery efforts. This unplanned resource drain impacts efficiency, delays strategic initiatives, and strains organizational capacity.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Fortifying Defenses: Prevention Strategies</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Robust Cybersecurity Frameworks: Implementing industry-standard frameworks like NIST CSF or ISO 27001 provides a structured, risk-based approach to identifying, protecting, detecting, responding to, and recovering from cyber incidents, ensuring a comprehensive security posture. This proactive framework minimizes vulnerabilities and improves resilience.</a:t>
            </a:r>
          </a:p>
          <a:p>
            <a:pPr>
              <a:spcBef>
                <a:spcPts val="600"/>
              </a:spcBef>
              <a:spcAft>
                <a:spcPts val="300"/>
              </a:spcAft>
              <a:defRPr sz="1600" b="1">
                <a:solidFill>
                  <a:srgbClr val="C8DCFF"/>
                </a:solidFill>
                <a:latin typeface="Arial"/>
              </a:defRPr>
            </a:pPr>
            <a:r>
              <a:t>Employee Security Awareness Training: Regular, mandatory training on identifying phishing attempts, safe browsing practices, and secure data handling protocols is critical, as human error remains a leading cause of breaches. Simulated phishing campaigns show a 60% reduction in click rates after consistent and engaging training programs.</a:t>
            </a:r>
          </a:p>
          <a:p>
            <a:pPr>
              <a:spcBef>
                <a:spcPts val="600"/>
              </a:spcBef>
              <a:spcAft>
                <a:spcPts val="300"/>
              </a:spcAft>
              <a:defRPr sz="1600" b="1">
                <a:solidFill>
                  <a:srgbClr val="C8DCFF"/>
                </a:solidFill>
                <a:latin typeface="Arial"/>
              </a:defRPr>
            </a:pPr>
            <a:r>
              <a:t>Multi-Factor Authentication (MFA): Mandating MFA for all critical systems, applications, and remote access significantly reduces the risk of unauthorized access, even if passwords are compromised. It acts as an essential secondary layer of defense, making credential stuffing attacks far less effective and strengthening identity management.</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Regular Software Updates and Patch Management: Promptly applying security patches and updates to operating systems, applications, and firmware closes known vulnerabilities that attackers frequently exploit. Automating this process wherever possible minimizes exposure windows and reduces the risk of zero-day exploits.</a:t>
            </a:r>
          </a:p>
          <a:p>
            <a:pPr>
              <a:spcBef>
                <a:spcPts val="600"/>
              </a:spcBef>
              <a:spcAft>
                <a:spcPts val="300"/>
              </a:spcAft>
              <a:defRPr sz="1600" b="1">
                <a:solidFill>
                  <a:srgbClr val="C8DCFF"/>
                </a:solidFill>
                <a:latin typeface="Arial"/>
              </a:defRPr>
            </a:pPr>
            <a:r>
              <a:t>Data Encryption and Access Controls: Encrypting sensitive data at rest (e.g., databases) and in transit (e.g., network communications) renders it unreadable to unauthorized parties, while strict access controls (least privilege principle) ensure employees only have access to necessary resources, minimizing internal data exposure.</a:t>
            </a:r>
          </a:p>
          <a:p>
            <a:pPr>
              <a:spcBef>
                <a:spcPts val="600"/>
              </a:spcBef>
              <a:spcAft>
                <a:spcPts val="300"/>
              </a:spcAft>
              <a:defRPr sz="1600" b="1">
                <a:solidFill>
                  <a:srgbClr val="C8DCFF"/>
                </a:solidFill>
                <a:latin typeface="Arial"/>
              </a:defRPr>
            </a:pPr>
            <a:r>
              <a:t>Incident Response Planning: Developing a clear, tested incident response plan (IRP) allows organizations to detect, contain, eradicate, and recover from cyber incidents quickly and efficiently, minimizing damage and downtime. Regular drills and tabletop exercises are crucial for ensuring the plan's effectiveness and team preparedness.</a:t>
            </a:r>
          </a:p>
          <a:p>
            <a:pPr>
              <a:spcBef>
                <a:spcPts val="600"/>
              </a:spcBef>
              <a:spcAft>
                <a:spcPts val="300"/>
              </a:spcAft>
              <a:defRPr sz="1600" b="1">
                <a:solidFill>
                  <a:srgbClr val="C8DCFF"/>
                </a:solidFill>
                <a:latin typeface="Arial"/>
              </a:defRPr>
            </a:pPr>
            <a:r>
              <a:t>Third-Party Risk Management: Rigorously vetting and continuously monitoring third-party vendors and supply chain partners for their security posture is essential, as their vulnerabilities can become entry points for attacks against your organization. Implementing robust contractual security clauses and conducting regular audits is non-negotiable.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Emerging Threats and Future Outlook</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AI-Powered Cyberattacks: Malicious actors are increasingly leveraging AI and machine learning to create more sophisticated phishing scams, autonomous malware, and advanced evasion techniques, making traditional defenses less effective. AI could automate vulnerability discovery and exploitation, accelerating attack capabilities.</a:t>
            </a:r>
          </a:p>
          <a:p>
            <a:pPr>
              <a:spcBef>
                <a:spcPts val="600"/>
              </a:spcBef>
              <a:spcAft>
                <a:spcPts val="300"/>
              </a:spcAft>
              <a:defRPr sz="1600" b="1">
                <a:solidFill>
                  <a:srgbClr val="C8DCFF"/>
                </a:solidFill>
                <a:latin typeface="Arial"/>
              </a:defRPr>
            </a:pPr>
            <a:r>
              <a:t>Deepfake Technology Exploitation: AI-generated deepfakes are being used for highly convincing social engineering (e.g., voice cloning for CEO fraud, video impersonations) and disinformation campaigns, eroding trust in digital content and making identity verification significantly more challenging. Verifying authenticity becomes paramount in a deepfake-laden environment.</a:t>
            </a:r>
          </a:p>
          <a:p>
            <a:pPr>
              <a:spcBef>
                <a:spcPts val="600"/>
              </a:spcBef>
              <a:spcAft>
                <a:spcPts val="300"/>
              </a:spcAft>
              <a:defRPr sz="1600" b="1">
                <a:solidFill>
                  <a:srgbClr val="C8DCFF"/>
                </a:solidFill>
                <a:latin typeface="Arial"/>
              </a:defRPr>
            </a:pPr>
            <a:r>
              <a:t>IoT (Internet of Things) Vulnerabilities: The proliferation of interconnected IoT devices (smart sensors, industrial controls, consumer gadgets) creates a vast and often poorly secured attack surface, providing numerous entry points for network infiltration and data exfiltration. Securing the "edge" and ensuring lifecycle security for these devices is critical.</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Quantum Computing Threats: While still nascent, quantum computing poses a future existential threat to current public-key cryptographic standards, which secure everything from financial transactions to government communications. Organizations must begin exploring quantum-resistant cryptography solutions to protect long-term data confidentiality before current encryption becomes obsolete.</a:t>
            </a:r>
          </a:p>
          <a:p>
            <a:pPr>
              <a:spcBef>
                <a:spcPts val="600"/>
              </a:spcBef>
              <a:spcAft>
                <a:spcPts val="300"/>
              </a:spcAft>
              <a:defRPr sz="1600" b="1">
                <a:solidFill>
                  <a:srgbClr val="C8DCFF"/>
                </a:solidFill>
                <a:latin typeface="Arial"/>
              </a:defRPr>
            </a:pPr>
            <a:r>
              <a:t>Ransomware-as-a-Service (RaaS) Evolution: The RaaS model lowers the barrier to entry for cybercriminals, enabling less technical individuals to launch sophisticated, high-impact attacks by renting tools and infrastructure. This proliferation means a broader, more diverse, and more persistent range of potential attackers globally.</a:t>
            </a:r>
          </a:p>
          <a:p>
            <a:pPr>
              <a:spcBef>
                <a:spcPts val="600"/>
              </a:spcBef>
              <a:spcAft>
                <a:spcPts val="300"/>
              </a:spcAft>
              <a:defRPr sz="1600" b="1">
                <a:solidFill>
                  <a:srgbClr val="C8DCFF"/>
                </a:solidFill>
                <a:latin typeface="Arial"/>
              </a:defRPr>
            </a:pPr>
            <a:r>
              <a:t>Geopolitical Cyber Warfare: State-sponsored cyberattacks are increasingly targeting critical infrastructure, financial institutions, and government entities, driven by escalating geopolitical tensions. These highly resourced attacks aim for espionage, sabotage, or large-scale disruption, posing significant national security and economic stability risks.</a:t>
            </a:r>
          </a:p>
          <a:p>
            <a:pPr>
              <a:spcBef>
                <a:spcPts val="600"/>
              </a:spcBef>
              <a:spcAft>
                <a:spcPts val="300"/>
              </a:spcAft>
              <a:defRPr sz="1600" b="1">
                <a:solidFill>
                  <a:srgbClr val="C8DCFF"/>
                </a:solidFill>
                <a:latin typeface="Arial"/>
              </a:defRPr>
            </a:pPr>
            <a:r>
              <a:t>Cybersecurity Talent Gap: The global shortage of skilled cybersecurity professionals continues to widen, estimated at over 3.4 million roles, creating significant challenges for organizations to adequately staff their defense teams and respond to evolving threats. This talent gap exacerbates vulnerabilities and hinders effective incident recovery efforts.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