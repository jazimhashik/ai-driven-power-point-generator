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embeddedFontLst>
    <p:embeddedFont>
      <p:font typeface="Poppins" charset="0"/>
      <p:regular r:id="rId12"/>
      <p:bold r:id="rId13"/>
      <p: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B9F0E1"/>
                </a:solidFill>
                <a:latin typeface="Poppins"/>
              </a:defRPr>
            </a:pPr>
            <a:r>
              <a:rPr sz="3600" b="1">
                <a:solidFill>
                  <a:srgbClr val="B9F0E1"/>
                </a:solidFill>
                <a:latin typeface="Poppins"/>
                <a:cs typeface="Poppins"/>
                <a:ea typeface="Poppins"/>
              </a:rPr>
              <a:t>cybercrime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6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B9F0E1"/>
                </a:solidFill>
                <a:latin typeface="Poppins"/>
              </a:defRPr>
            </a:pPr>
            <a:r>
              <a:rPr sz="3600" b="1">
                <a:solidFill>
                  <a:srgbClr val="B9F0E1"/>
                </a:solidFill>
                <a:latin typeface="Poppins"/>
                <a:cs typeface="Poppins"/>
                <a:ea typeface="Poppins"/>
              </a:rPr>
              <a:t>Evolving Threat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7FAF0"/>
                </a:solidFill>
                <a:latin typeface="Poppins"/>
              </a:defRPr>
            </a:pPr>
            <a:r>
              <a:rPr sz="1600" b="1">
                <a:solidFill>
                  <a:srgbClr val="D7FAF0"/>
                </a:solidFill>
                <a:latin typeface="Poppins"/>
                <a:cs typeface="Poppins"/>
                <a:ea typeface="Poppins"/>
              </a:rPr>
              <a:t>• Phishing remains top attack vector, over 80% of incidents.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7FAF0"/>
                </a:solidFill>
                <a:latin typeface="Poppins"/>
              </a:defRPr>
            </a:pPr>
            <a:r>
              <a:rPr sz="1600" b="1">
                <a:solidFill>
                  <a:srgbClr val="D7FAF0"/>
                </a:solidFill>
                <a:latin typeface="Poppins"/>
                <a:cs typeface="Poppins"/>
                <a:ea typeface="Poppins"/>
              </a:rPr>
              <a:t>• Supply chain attacks increased 400% in 2021, targeting interconnected systems.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7FAF0"/>
                </a:solidFill>
                <a:latin typeface="Poppins"/>
              </a:defRPr>
            </a:pPr>
            <a:r>
              <a:rPr sz="1600" b="1">
                <a:solidFill>
                  <a:srgbClr val="D7FAF0"/>
                </a:solidFill>
                <a:latin typeface="Poppins"/>
                <a:cs typeface="Poppins"/>
                <a:ea typeface="Poppins"/>
              </a:rPr>
              <a:t>• State-sponsored groups conduct sophisticated espionage and sabotage missions.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7FAF0"/>
                </a:solidFill>
                <a:latin typeface="Poppins"/>
              </a:defRPr>
            </a:pPr>
            <a:r>
              <a:rPr sz="1600" b="1">
                <a:solidFill>
                  <a:srgbClr val="D7FAF0"/>
                </a:solidFill>
                <a:latin typeface="Poppins"/>
                <a:cs typeface="Poppins"/>
                <a:ea typeface="Poppins"/>
              </a:rPr>
              <a:t>• IoT devices present new vulnerabilities; 25% of attacks target them.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7FAF0"/>
                </a:solidFill>
                <a:latin typeface="Poppins"/>
              </a:defRPr>
            </a:pPr>
            <a:r>
              <a:rPr sz="1600" b="1">
                <a:solidFill>
                  <a:srgbClr val="D7FAF0"/>
                </a:solidFill>
                <a:latin typeface="Poppins"/>
                <a:cs typeface="Poppins"/>
                <a:ea typeface="Poppins"/>
              </a:rPr>
              <a:t>• Cloud misconfigurations lead to significant data exposure incidents regularly.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6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B9F0E1"/>
                </a:solidFill>
                <a:latin typeface="Poppins"/>
              </a:defRPr>
            </a:pPr>
            <a:r>
              <a:rPr sz="3600" b="1">
                <a:solidFill>
                  <a:srgbClr val="B9F0E1"/>
                </a:solidFill>
                <a:latin typeface="Poppins"/>
                <a:cs typeface="Poppins"/>
                <a:ea typeface="Poppins"/>
              </a:rPr>
              <a:t>Impacts and Vulnerabilities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7FAF0"/>
                </a:solidFill>
                <a:latin typeface="Poppins"/>
              </a:defRPr>
            </a:pPr>
            <a:r>
              <a:rPr sz="1600" b="1">
                <a:solidFill>
                  <a:srgbClr val="D7FAF0"/>
                </a:solidFill>
                <a:latin typeface="Poppins"/>
                <a:cs typeface="Poppins"/>
                <a:ea typeface="Poppins"/>
              </a:rPr>
              <a:t>• Average data breach cost reached $4.35 million in 2022.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7FAF0"/>
                </a:solidFill>
                <a:latin typeface="Poppins"/>
              </a:defRPr>
            </a:pPr>
            <a:r>
              <a:rPr sz="1600" b="1">
                <a:solidFill>
                  <a:srgbClr val="D7FAF0"/>
                </a:solidFill>
                <a:latin typeface="Poppins"/>
                <a:cs typeface="Poppins"/>
                <a:ea typeface="Poppins"/>
              </a:rPr>
              <a:t>• Small and medium businesses disproportionately targeted by cybercriminals.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7FAF0"/>
                </a:solidFill>
                <a:latin typeface="Poppins"/>
              </a:defRPr>
            </a:pPr>
            <a:r>
              <a:rPr sz="1600" b="1">
                <a:solidFill>
                  <a:srgbClr val="D7FAF0"/>
                </a:solidFill>
                <a:latin typeface="Poppins"/>
                <a:cs typeface="Poppins"/>
                <a:ea typeface="Poppins"/>
              </a:rPr>
              <a:t>• Human error contributes to 85% of successful cyberattacks.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7FAF0"/>
                </a:solidFill>
                <a:latin typeface="Poppins"/>
              </a:defRPr>
            </a:pPr>
            <a:r>
              <a:rPr sz="1600" b="1">
                <a:solidFill>
                  <a:srgbClr val="D7FAF0"/>
                </a:solidFill>
                <a:latin typeface="Poppins"/>
                <a:cs typeface="Poppins"/>
                <a:ea typeface="Poppins"/>
              </a:rPr>
              <a:t>• Zero-day exploits pose significant risk before official patches are released.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7FAF0"/>
                </a:solidFill>
                <a:latin typeface="Poppins"/>
              </a:defRPr>
            </a:pPr>
            <a:r>
              <a:rPr sz="1600" b="1">
                <a:solidFill>
                  <a:srgbClr val="D7FAF0"/>
                </a:solidFill>
                <a:latin typeface="Poppins"/>
                <a:cs typeface="Poppins"/>
                <a:ea typeface="Poppins"/>
              </a:rPr>
              <a:t>• Geopolitical events intensify nation-state cyber warfare activities regularly.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6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B9F0E1"/>
                </a:solidFill>
                <a:latin typeface="Poppins"/>
              </a:defRPr>
            </a:pPr>
            <a:r>
              <a:rPr sz="3600" b="1">
                <a:solidFill>
                  <a:srgbClr val="B9F0E1"/>
                </a:solidFill>
                <a:latin typeface="Poppins"/>
                <a:cs typeface="Poppins"/>
                <a:ea typeface="Poppins"/>
              </a:rPr>
              <a:t>Recent Attack Vectors and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7FAF0"/>
                </a:solidFill>
                <a:latin typeface="Poppins"/>
              </a:defRPr>
            </a:pPr>
            <a:r>
              <a:rPr sz="1600" b="1">
                <a:solidFill>
                  <a:srgbClr val="D7FAF0"/>
                </a:solidFill>
                <a:latin typeface="Poppins"/>
                <a:cs typeface="Poppins"/>
                <a:ea typeface="Poppins"/>
              </a:rPr>
              <a:t>• Ransomware payments exceeded $1 billion in 2023, fueling crime.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7FAF0"/>
                </a:solidFill>
                <a:latin typeface="Poppins"/>
              </a:defRPr>
            </a:pPr>
            <a:r>
              <a:rPr sz="1600" b="1">
                <a:solidFill>
                  <a:srgbClr val="D7FAF0"/>
                </a:solidFill>
                <a:latin typeface="Poppins"/>
                <a:cs typeface="Poppins"/>
                <a:ea typeface="Poppins"/>
              </a:rPr>
              <a:t>• Business Email Compromise (BEC) scams cost companies over $2.7 billion.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7FAF0"/>
                </a:solidFill>
                <a:latin typeface="Poppins"/>
              </a:defRPr>
            </a:pPr>
            <a:r>
              <a:rPr sz="1600" b="1">
                <a:solidFill>
                  <a:srgbClr val="D7FAF0"/>
                </a:solidFill>
                <a:latin typeface="Poppins"/>
                <a:cs typeface="Poppins"/>
                <a:ea typeface="Poppins"/>
              </a:rPr>
              <a:t>• Cryptojacking incidents rose 300% last year, exploiting server resources.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7FAF0"/>
                </a:solidFill>
                <a:latin typeface="Poppins"/>
              </a:defRPr>
            </a:pPr>
            <a:r>
              <a:rPr sz="1600" b="1">
                <a:solidFill>
                  <a:srgbClr val="D7FAF0"/>
                </a:solidFill>
                <a:latin typeface="Poppins"/>
                <a:cs typeface="Poppins"/>
                <a:ea typeface="Poppins"/>
              </a:rPr>
              <a:t>• Distributed Denial of Service (DDoS) attacks reached record intensity levels.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7FAF0"/>
                </a:solidFill>
                <a:latin typeface="Poppins"/>
              </a:defRPr>
            </a:pPr>
            <a:r>
              <a:rPr sz="1600" b="1">
                <a:solidFill>
                  <a:srgbClr val="D7FAF0"/>
                </a:solidFill>
                <a:latin typeface="Poppins"/>
                <a:cs typeface="Poppins"/>
                <a:ea typeface="Poppins"/>
              </a:rPr>
              <a:t>• Insider threats, both malicious and accidental, remain a persistent challenge.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6E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B9F0E1"/>
                </a:solidFill>
                <a:latin typeface="Poppins"/>
              </a:defRPr>
            </a:pPr>
            <a:r>
              <a:rPr sz="3600" b="1">
                <a:solidFill>
                  <a:srgbClr val="B9F0E1"/>
                </a:solidFill>
                <a:latin typeface="Poppins"/>
                <a:cs typeface="Poppins"/>
                <a:ea typeface="Poppins"/>
              </a:rPr>
              <a:t>Mitigating Cyber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7FAF0"/>
                </a:solidFill>
                <a:latin typeface="Poppins"/>
              </a:defRPr>
            </a:pPr>
            <a:r>
              <a:rPr sz="1600" b="1">
                <a:solidFill>
                  <a:srgbClr val="D7FAF0"/>
                </a:solidFill>
                <a:latin typeface="Poppins"/>
                <a:cs typeface="Poppins"/>
                <a:ea typeface="Poppins"/>
              </a:rPr>
              <a:t>• Implement multi-factor authentication (MFA) across all enterprise systems.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7FAF0"/>
                </a:solidFill>
                <a:latin typeface="Poppins"/>
              </a:defRPr>
            </a:pPr>
            <a:r>
              <a:rPr sz="1600" b="1">
                <a:solidFill>
                  <a:srgbClr val="D7FAF0"/>
                </a:solidFill>
                <a:latin typeface="Poppins"/>
                <a:cs typeface="Poppins"/>
                <a:ea typeface="Poppins"/>
              </a:rPr>
              <a:t>• Conduct regular employee cybersecurity awareness training programs consistently.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7FAF0"/>
                </a:solidFill>
                <a:latin typeface="Poppins"/>
              </a:defRPr>
            </a:pPr>
            <a:r>
              <a:rPr sz="1600" b="1">
                <a:solidFill>
                  <a:srgbClr val="D7FAF0"/>
                </a:solidFill>
                <a:latin typeface="Poppins"/>
                <a:cs typeface="Poppins"/>
                <a:ea typeface="Poppins"/>
              </a:rPr>
              <a:t>• Deploy advanced endpoint detection and response (EDR) solutions effectively.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7FAF0"/>
                </a:solidFill>
                <a:latin typeface="Poppins"/>
              </a:defRPr>
            </a:pPr>
            <a:r>
              <a:rPr sz="1600" b="1">
                <a:solidFill>
                  <a:srgbClr val="D7FAF0"/>
                </a:solidFill>
                <a:latin typeface="Poppins"/>
                <a:cs typeface="Poppins"/>
                <a:ea typeface="Poppins"/>
              </a:rPr>
              <a:t>• Establish robust incident response plans and perform regular drills.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7FAF0"/>
                </a:solidFill>
                <a:latin typeface="Poppins"/>
              </a:defRPr>
            </a:pPr>
            <a:r>
              <a:rPr sz="1600" b="1">
                <a:solidFill>
                  <a:srgbClr val="D7FAF0"/>
                </a:solidFill>
                <a:latin typeface="Poppins"/>
                <a:cs typeface="Poppins"/>
                <a:ea typeface="Poppins"/>
              </a:rPr>
              <a:t>• Foster threat intelligence sharing within industry sectors and government.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