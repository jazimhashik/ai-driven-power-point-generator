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teaching as a profession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Teaching's Enduring Impact</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Shaping Human Capital and Societal Progress - Educators are primary architects of future workforces and informed citizens, directly influencing economic growth and innovation. Nations with robust education systems, like Finland and Singapore, consistently rank high in human development indices, demonstrating that quality teaching builds intellectual capacity, drives research, and fuels societal advancement, which is fundamental for global competitiveness.</a:t>
            </a:r>
          </a:p>
          <a:p>
            <a:pPr>
              <a:spcBef>
                <a:spcPts val="600"/>
              </a:spcBef>
              <a:spcAft>
                <a:spcPts val="300"/>
              </a:spcAft>
              <a:defRPr sz="1600" b="1">
                <a:solidFill>
                  <a:srgbClr val="C8DCFF"/>
                </a:solidFill>
                <a:latin typeface="Arial"/>
              </a:defRPr>
            </a:pPr>
            <a:r>
              <a:t>Economic Contributions Through Skill Development - By fostering critical thinking, problem-solving, and collaboration, teachers cultivate a skilled labor force essential for productivity and innovation across all sectors. A study by Hanushek and Woessmann (2012) indicates that improving cognitive skills through education has a significant, positive impact on a country's long-term economic growth, highlighting teaching's direct link to GDP and national prosperity.</a:t>
            </a:r>
          </a:p>
          <a:p>
            <a:pPr>
              <a:spcBef>
                <a:spcPts val="600"/>
              </a:spcBef>
              <a:spcAft>
                <a:spcPts val="300"/>
              </a:spcAft>
              <a:defRPr sz="1600" b="1">
                <a:solidFill>
                  <a:srgbClr val="C8DCFF"/>
                </a:solidFill>
                <a:latin typeface="Arial"/>
              </a:defRPr>
            </a:pPr>
            <a:r>
              <a:t>Fostering Critical Thinking and Innovation - Teachers move students beyond rote memorization to questioning, analyzing, and synthesizing information, preparing them to solve complex, real-world problems. For instance, project-based learning initiatives where students design sustainable energy solutions or analyze historical perspectives cultivate the analytical rigor and creative ingenuity vital for scientific breakthroughs and entrepreneurial ventures.</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Bridging Achievement Gaps and Social Mobility - Quality teaching serves as a powerful lever for equity, providing all students, particularly those from disadvantaged backgrounds, with pathways to higher education and better economic opportunities. Targeted interventions, personalized instruction, and high expectations set by dedicated educators can significantly narrow achievement disparities, offering a tangible route for upward social mobility and breaking cycles of poverty.</a:t>
            </a:r>
          </a:p>
          <a:p>
            <a:pPr>
              <a:spcBef>
                <a:spcPts val="600"/>
              </a:spcBef>
              <a:spcAft>
                <a:spcPts val="300"/>
              </a:spcAft>
              <a:defRPr sz="1600" b="1">
                <a:solidFill>
                  <a:srgbClr val="C8DCFF"/>
                </a:solidFill>
                <a:latin typeface="Arial"/>
              </a:defRPr>
            </a:pPr>
            <a:r>
              <a:t>Nurturing Ethical Citizens and Community Leaders - Beyond academics, educators instill values such as empathy, integrity, and civic responsibility, cultivating individuals who contribute positively to their communities and uphold democratic principles. Through civic engagement projects, discussions on current events, and character education, teachers shape future leaders committed to social good and active participation in society.</a:t>
            </a:r>
          </a:p>
          <a:p>
            <a:pPr>
              <a:spcBef>
                <a:spcPts val="600"/>
              </a:spcBef>
              <a:spcAft>
                <a:spcPts val="300"/>
              </a:spcAft>
              <a:defRPr sz="1600" b="1">
                <a:solidFill>
                  <a:srgbClr val="C8DCFF"/>
                </a:solidFill>
                <a:latin typeface="Arial"/>
              </a:defRPr>
            </a:pPr>
            <a:r>
              <a:t>Sustaining Cultural Heritage and Knowledge - Teachers are custodians of collective human knowledge, transmitting historical understanding, literary traditions, and scientific principles across generations. By engaging students with classical literature, scientific inquiry, or historical narratives, they ensure the continuity of cultural identity and the preservation of foundational knowledge, preventing societal amnesia and promoting cultural literacy.</a:t>
            </a:r>
          </a:p>
          <a:p>
            <a:pPr>
              <a:spcBef>
                <a:spcPts val="600"/>
              </a:spcBef>
              <a:spcAft>
                <a:spcPts val="300"/>
              </a:spcAft>
              <a:defRPr sz="1600" b="1">
                <a:solidFill>
                  <a:srgbClr val="C8DCFF"/>
                </a:solidFill>
                <a:latin typeface="Arial"/>
              </a:defRPr>
            </a:pPr>
            <a:r>
              <a:t>Mental Health and Well-being Support - Educators often serve as primary identifiers and initial support systems for students experiencing mental health challenges, referring them to appropriate services and creating supportive classroom environments. Their proactive role in promoting emotional regulation, reducing stress, and fostering a sense of belonging can significantly improve student attendance, academic performance, and overall life outcomes, underscoring the profession's deep humanistic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Navigating Challenges &amp; Opportunities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Workforce Shortages and Retention Crisis - Many regions face severe shortages of qualified educators, particularly in STEM and special education, leading to increased class sizes and reduced educational quality. Data from the Learning Policy Institute indicates that nearly 100,000 teaching positions were unfilled or filled by underqualified teachers in 2022-23, necessitating strategic initiatives like improved compensation and robust mentorship to attract and retain talent.</a:t>
            </a:r>
          </a:p>
          <a:p>
            <a:pPr>
              <a:spcBef>
                <a:spcPts val="600"/>
              </a:spcBef>
              <a:spcAft>
                <a:spcPts val="300"/>
              </a:spcAft>
              <a:defRPr sz="1600" b="1">
                <a:solidFill>
                  <a:srgbClr val="C8DCFF"/>
                </a:solidFill>
                <a:latin typeface="Arial"/>
              </a:defRPr>
            </a:pPr>
            <a:r>
              <a:t>Inadequate Compensation and Resource Disparities - Teacher salaries often lag behind comparable professions requiring similar education, impacting recruitment and morale. Furthermore, schools in low-income areas frequently receive less funding, resulting in outdated technology, insufficient materials, and fewer support staff, which exacerbates educational inequities and hinders instructional effectiveness, demanding significant policy intervention and equitable funding models.</a:t>
            </a:r>
          </a:p>
          <a:p>
            <a:pPr>
              <a:spcBef>
                <a:spcPts val="600"/>
              </a:spcBef>
              <a:spcAft>
                <a:spcPts val="300"/>
              </a:spcAft>
              <a:defRPr sz="1600" b="1">
                <a:solidFill>
                  <a:srgbClr val="C8DCFF"/>
                </a:solidFill>
                <a:latin typeface="Arial"/>
              </a:defRPr>
            </a:pPr>
            <a:r>
              <a:t>Balancing Accountability and Autonomy - Educators face increasing pressure from standardized testing and rigid curriculum mandates, which can stifle pedagogical innovation and professional judgment. While accountability is crucial, excessive top-down directives can limit a teacher's ability to adapt instruction to diverse student needs and local contexts, highlighting the need for balanced policies that empower professional autonomy within clear performance frameworks.</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Addressing Diverse Learner Needs (e.g., SEN, ESL) - Classrooms are increasingly diverse, with students exhibiting a wide range of learning styles, languages, and abilities (e.g., Special Education Needs, English as a Second Language). Teachers require specialized training, resources, and reduced caseloads to effectively differentiate instruction and provide targeted support, ensuring equitable access to high-quality education for all students.</a:t>
            </a:r>
          </a:p>
          <a:p>
            <a:pPr>
              <a:spcBef>
                <a:spcPts val="600"/>
              </a:spcBef>
              <a:spcAft>
                <a:spcPts val="300"/>
              </a:spcAft>
              <a:defRPr sz="1600" b="1">
                <a:solidFill>
                  <a:srgbClr val="C8DCFF"/>
                </a:solidFill>
                <a:latin typeface="Arial"/>
              </a:defRPr>
            </a:pPr>
            <a:r>
              <a:t>Harnessing AI and EdTech for Efficiency - The advent of Artificial Intelligence and advanced educational technologies presents opportunities to personalize learning, automate administrative tasks, and provide real-time feedback. For instance, AI-powered tutoring systems can supplement instruction, allowing teachers to focus on higher-order thinking skills and individual student relationships, thereby enhancing instructional efficiency and effectiveness.</a:t>
            </a:r>
          </a:p>
          <a:p>
            <a:pPr>
              <a:spcBef>
                <a:spcPts val="600"/>
              </a:spcBef>
              <a:spcAft>
                <a:spcPts val="300"/>
              </a:spcAft>
              <a:defRPr sz="1600" b="1">
                <a:solidFill>
                  <a:srgbClr val="C8DCFF"/>
                </a:solidFill>
                <a:latin typeface="Arial"/>
              </a:defRPr>
            </a:pPr>
            <a:r>
              <a:t>Policy Advocacy for Systemic Change - Educators have a crucial opportunity to advocate for policies that improve working conditions, secure adequate funding, and promote student well-being. By participating in professional organizations, engaging with policymakers, and sharing classroom realities, teachers can drive systemic reforms, such as increased mental health services or reduced administrative burdens, leading to more sustainable and effective educational systems.</a:t>
            </a:r>
          </a:p>
          <a:p>
            <a:pPr>
              <a:spcBef>
                <a:spcPts val="600"/>
              </a:spcBef>
              <a:spcAft>
                <a:spcPts val="300"/>
              </a:spcAft>
              <a:defRPr sz="1600" b="1">
                <a:solidFill>
                  <a:srgbClr val="C8DCFF"/>
                </a:solidFill>
                <a:latin typeface="Arial"/>
              </a:defRPr>
            </a:pPr>
            <a:r>
              <a:t>Promoting Teacher Voice and Leadership - Empowering teachers to take on leadership roles, such as instructional coaches, curriculum developers, or school improvement team members, fosters professional growth and strengthens school culture. Providing opportunities for teacher-led initiatives, where educators design and implement innovative programs based on their expertise, can significantly boost morale, retain talent, and improve educational outcomes across the institution.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Professional Development &amp; Pathways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Continuous Learning for Pedagogical Excellence - Effective educators engage in ongoing professional development to refine instructional strategies, incorporate new research, and adapt to evolving student demographics. Examples include workshops on culturally responsive teaching, graduate coursework in specific subject areas, or certification in advanced instructional techniques like Universal Design for Learning, ensuring practices remain current and impactful.</a:t>
            </a:r>
          </a:p>
          <a:p>
            <a:pPr>
              <a:spcBef>
                <a:spcPts val="600"/>
              </a:spcBef>
              <a:spcAft>
                <a:spcPts val="300"/>
              </a:spcAft>
              <a:defRPr sz="1600" b="1">
                <a:solidFill>
                  <a:srgbClr val="C8DCFF"/>
                </a:solidFill>
                <a:latin typeface="Arial"/>
              </a:defRPr>
            </a:pPr>
            <a:r>
              <a:t>Mentorship Programs and Peer Coaching - Structured mentorship programs pair experienced educators with new teachers, providing critical guidance, support, and practical advice on classroom management, curriculum planning, and school culture. Peer coaching models allow teachers to observe each other, provide constructive feedback, and collaboratively problem-solve, fostering a strong professional network and accelerating skill development for both parties.</a:t>
            </a:r>
          </a:p>
          <a:p>
            <a:pPr>
              <a:spcBef>
                <a:spcPts val="600"/>
              </a:spcBef>
              <a:spcAft>
                <a:spcPts val="300"/>
              </a:spcAft>
              <a:defRPr sz="1600" b="1">
                <a:solidFill>
                  <a:srgbClr val="C8DCFF"/>
                </a:solidFill>
                <a:latin typeface="Arial"/>
              </a:defRPr>
            </a:pPr>
            <a:r>
              <a:t>Specialization and Advanced Certifications - Teachers can pursue specialized certifications in areas like gifted education, special education, or specific pedagogical methodologies (e.g., Montessori, IB). These advanced credentials not only deepen expertise and broaden career opportunities but also signify a commitment to serving diverse student populations with tailored, evidence-based approaches, enhancing the school's overall capacity.</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Leadership Roles (e.g., Instructional Coach, Department Head) - Beyond the classroom, teachers can transition into leadership positions such as instructional coaches, curriculum coordinators, or department heads, influencing teaching practices and curriculum development across a school or district. These roles allow experienced educators to mentor colleagues, drive professional growth initiatives, and shape educational policy from within the institution.</a:t>
            </a:r>
          </a:p>
          <a:p>
            <a:pPr>
              <a:spcBef>
                <a:spcPts val="600"/>
              </a:spcBef>
              <a:spcAft>
                <a:spcPts val="300"/>
              </a:spcAft>
              <a:defRPr sz="1600" b="1">
                <a:solidFill>
                  <a:srgbClr val="C8DCFF"/>
                </a:solidFill>
                <a:latin typeface="Arial"/>
              </a:defRPr>
            </a:pPr>
            <a:r>
              <a:t>Research and Curriculum Development Contributions - Educators have opportunities to contribute to academic research on teaching and learning or to participate directly in curriculum design and adaptation. For instance, a teacher might pilot new instructional materials, provide feedback for state curriculum revisions, or conduct action research within their classroom to improve student engagement, directly informing best practices and shaping future educational content.</a:t>
            </a:r>
          </a:p>
          <a:p>
            <a:pPr>
              <a:spcBef>
                <a:spcPts val="600"/>
              </a:spcBef>
              <a:spcAft>
                <a:spcPts val="300"/>
              </a:spcAft>
              <a:defRPr sz="1600" b="1">
                <a:solidFill>
                  <a:srgbClr val="C8DCFF"/>
                </a:solidFill>
                <a:latin typeface="Arial"/>
              </a:defRPr>
            </a:pPr>
            <a:r>
              <a:t>Global Education Exchanges and Best Practices - Participating in international exchange programs or collaborating with educators from other countries exposes teachers to diverse pedagogical approaches and global educational challenges. For example, a teacher might spend a summer studying effective literacy programs in Finland, bringing back innovative strategies that enrich local curriculum and broaden student perspectives on global citizenship.</a:t>
            </a:r>
          </a:p>
          <a:p>
            <a:pPr>
              <a:spcBef>
                <a:spcPts val="600"/>
              </a:spcBef>
              <a:spcAft>
                <a:spcPts val="300"/>
              </a:spcAft>
              <a:defRPr sz="1600" b="1">
                <a:solidFill>
                  <a:srgbClr val="C8DCFF"/>
                </a:solidFill>
                <a:latin typeface="Arial"/>
              </a:defRPr>
            </a:pPr>
            <a:r>
              <a:t>Micro-credentials and Stackable Professional Learning - The rise of micro-credentials offers flexible, competency-based professional learning opportunities that allow educators to gain recognition for specific skills or knowledge areas without extensive traditional degree programs. These stackable credentials, focused on areas like digital assessment tools or trauma-informed care, provide targeted skill acquisition that can lead to career advancement and increased efficacy in the classroom.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Strategic Imperatives Ahead</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Redefining Public Perception and Respect - Elevating the teaching profession requires a concerted effort to shift public narratives from a vocational calling to a highly skilled, respected profession foundational to national prosperity. Campaigns highlighting the complexity of modern teaching, the academic rigor required, and the profound societal impact of educators can attract top talent and garner essential public support, fostering a culture of appreciation.</a:t>
            </a:r>
          </a:p>
          <a:p>
            <a:pPr>
              <a:spcBef>
                <a:spcPts val="600"/>
              </a:spcBef>
              <a:spcAft>
                <a:spcPts val="300"/>
              </a:spcAft>
              <a:defRPr sz="1600" b="1">
                <a:solidFill>
                  <a:srgbClr val="C8DCFF"/>
                </a:solidFill>
                <a:latin typeface="Arial"/>
              </a:defRPr>
            </a:pPr>
            <a:r>
              <a:t>Investing in Talent Pipelines and Retention - Proactive strategies are needed to attract high-achieving individuals to teaching and keep them in the profession. This includes competitive salaries, robust benefits packages, comprehensive induction programs for new teachers, and addressing systemic issues contributing to burnout, such as excessive workloads. For example, states offering tuition reimbursement or housing subsidies for educators in high-needs areas show commitment to a sustainable workforce.</a:t>
            </a:r>
          </a:p>
          <a:p>
            <a:pPr>
              <a:spcBef>
                <a:spcPts val="600"/>
              </a:spcBef>
              <a:spcAft>
                <a:spcPts val="300"/>
              </a:spcAft>
              <a:defRPr sz="1600" b="1">
                <a:solidFill>
                  <a:srgbClr val="C8DCFF"/>
                </a:solidFill>
                <a:latin typeface="Arial"/>
              </a:defRPr>
            </a:pPr>
            <a:r>
              <a:t>Policy Reforms for Equitable Funding - Advocating for equitable school funding formulas is paramount to ensure all students, regardless of zip code, have access to high-quality teachers and resources. Policy changes that prioritize per-pupil spending parity, target funds to disadvantaged communities, and reduce reliance on local property taxes can address long-standing disparities and create a more level playing field for educational success.</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Empowering Teacher-Led Innovation - Fostering an environment where educators are encouraged to experiment with new pedagogical approaches, technology, and curriculum designs is crucial for progress. Providing teachers with protected time for research and development, grant opportunities for innovative projects, and platforms to share successful strategies can unleash creative solutions and keep education dynamic and responsive to future needs.</a:t>
            </a:r>
          </a:p>
          <a:p>
            <a:pPr>
              <a:spcBef>
                <a:spcPts val="600"/>
              </a:spcBef>
              <a:spcAft>
                <a:spcPts val="300"/>
              </a:spcAft>
              <a:defRPr sz="1600" b="1">
                <a:solidFill>
                  <a:srgbClr val="C8DCFF"/>
                </a:solidFill>
                <a:latin typeface="Arial"/>
              </a:defRPr>
            </a:pPr>
            <a:r>
              <a:t>Fostering Wellness and Sustainable Workloads - Addressing teacher well-being through manageable workloads, access to mental health support, and reduction of non-instructional duties is vital for long-term retention. Implementing strategies such as dedicated planning time, professional development focused on stress management, and clear boundaries between work and personal life can prevent burnout and promote a healthier, more productive teaching force.</a:t>
            </a:r>
          </a:p>
          <a:p>
            <a:pPr>
              <a:spcBef>
                <a:spcPts val="600"/>
              </a:spcBef>
              <a:spcAft>
                <a:spcPts val="300"/>
              </a:spcAft>
              <a:defRPr sz="1600" b="1">
                <a:solidFill>
                  <a:srgbClr val="C8DCFF"/>
                </a:solidFill>
                <a:latin typeface="Arial"/>
              </a:defRPr>
            </a:pPr>
            <a:r>
              <a:t>Strengthening Community-School Partnerships - Building robust partnerships with families, local businesses, non-profits, and higher education institutions creates a supportive ecosystem for student success. Examples include parent volunteer programs, corporate mentorship initiatives, or university-school research collaborations, which leverage external resources and expertise to enrich educational experiences and provide real-world connections for students.</a:t>
            </a:r>
          </a:p>
          <a:p>
            <a:pPr>
              <a:spcBef>
                <a:spcPts val="600"/>
              </a:spcBef>
              <a:spcAft>
                <a:spcPts val="300"/>
              </a:spcAft>
              <a:defRPr sz="1600" b="1">
                <a:solidFill>
                  <a:srgbClr val="C8DCFF"/>
                </a:solidFill>
                <a:latin typeface="Arial"/>
              </a:defRPr>
            </a:pPr>
            <a:r>
              <a:t>Embracing a Future-Ready Education Ecosystem - Preparing for the future necessitates a flexible education system capable of adapting to rapid technological advancements and evolving societal demands. This includes investing in infrastructure for blended learning, developing curricula that emphasizes future-oriented skills like ethical AI use, and continuous re-evaluation of educational models to ensure relevance and resilience for the next generation.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