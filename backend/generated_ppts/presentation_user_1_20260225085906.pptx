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457200" y="2286000"/>
            <a:ext cx="8229600" cy="1371600"/>
          </a:xfrm>
          <a:prstGeom prst="rect">
            <a:avLst/>
          </a:prstGeom>
          <a:noFill/>
        </p:spPr>
        <p:txBody>
          <a:bodyPr wrap="square">
            <a:spAutoFit/>
          </a:bodyPr>
          <a:lstStyle/>
          <a:p>
            <a:pPr algn="ctr">
              <a:defRPr sz="3600" b="1">
                <a:solidFill>
                  <a:srgbClr val="8AB4FF"/>
                </a:solidFill>
                <a:latin typeface="Arial"/>
              </a:defRPr>
            </a:pPr>
            <a:r>
              <a:t>cybercrime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normAutofit/>
          </a:bodyPr>
          <a:lstStyle/>
          <a:p>
            <a:pPr>
              <a:defRPr sz="3600" b="1">
                <a:solidFill>
                  <a:srgbClr val="8AB4FF"/>
                </a:solidFill>
                <a:latin typeface="Arial"/>
              </a:defRPr>
            </a:pPr>
            <a:r>
              <a:t>Emerging Threats &amp; Attack Vectors</a:t>
            </a:r>
          </a:p>
        </p:txBody>
      </p:sp>
      <p:sp>
        <p:nvSpPr>
          <p:cNvPr id="3" name="TextBox 2"/>
          <p:cNvSpPr txBox="1"/>
          <p:nvPr/>
        </p:nvSpPr>
        <p:spPr>
          <a:xfrm>
            <a:off x="274320" y="1188720"/>
            <a:ext cx="3931920" cy="2651760"/>
          </a:xfrm>
          <a:prstGeom prst="rect">
            <a:avLst/>
          </a:prstGeom>
          <a:noFill/>
        </p:spPr>
        <p:txBody>
          <a:bodyPr wrap="square">
            <a:normAutofit/>
          </a:bodyPr>
          <a:lstStyle/>
          <a:p>
            <a:pPr>
              <a:spcBef>
                <a:spcPts val="600"/>
              </a:spcBef>
              <a:spcAft>
                <a:spcPts val="300"/>
              </a:spcAft>
              <a:defRPr sz="1600" b="1">
                <a:solidFill>
                  <a:srgbClr val="C8DCFF"/>
                </a:solidFill>
                <a:latin typeface="Arial"/>
              </a:defRPr>
            </a:pPr>
            <a:r>
              <a:t>AI-Powered Advanced Threats: Adversaries are leveraging Artificial Intelligence (AI) and Machine Learning (ML) to create more sophisticated phishing campaigns, generate deepfake audio/video for social engineering, and automate attack reconnaissance. This evolution demands that organizations adopt AI-driven defensive tools capable of detecting anomalous behaviors at machine speed.</a:t>
            </a:r>
          </a:p>
          <a:p>
            <a:pPr>
              <a:spcBef>
                <a:spcPts val="600"/>
              </a:spcBef>
              <a:spcAft>
                <a:spcPts val="300"/>
              </a:spcAft>
              <a:defRPr sz="1600" b="1">
                <a:solidFill>
                  <a:srgbClr val="C8DCFF"/>
                </a:solidFill>
                <a:latin typeface="Arial"/>
              </a:defRPr>
            </a:pPr>
            <a:r>
              <a:t>Supply Chain Vulnerabilities: Attacks targeting third-party vendors and software supply chains, as exemplified by the SolarWinds incident, allow threat actors to compromise numerous downstream organizations through a single point of entry. Robust vendor risk management, comprehensive due diligence, and continuous monitoring of third-party access are now critical.</a:t>
            </a:r>
          </a:p>
          <a:p>
            <a:pPr>
              <a:spcBef>
                <a:spcPts val="600"/>
              </a:spcBef>
              <a:spcAft>
                <a:spcPts val="300"/>
              </a:spcAft>
              <a:defRPr sz="1600" b="1">
                <a:solidFill>
                  <a:srgbClr val="C8DCFF"/>
                </a:solidFill>
                <a:latin typeface="Arial"/>
              </a:defRPr>
            </a:pPr>
            <a:r>
              <a:t>IoT Device Exploitation: The proliferation of Internet of Things (IoT) devices, often with weak security configurations, creates vast attack surfaces for botnet formation (e.g., Mirai botnet) and unauthorized network access. Securing IoT devices from the design phase, implementing network segmentation, and regular patch management are essential to mitigate this risk.</a:t>
            </a:r>
          </a:p>
        </p:txBody>
      </p:sp>
      <p:sp>
        <p:nvSpPr>
          <p:cNvPr id="4" name="TextBox 3"/>
          <p:cNvSpPr txBox="1"/>
          <p:nvPr/>
        </p:nvSpPr>
        <p:spPr>
          <a:xfrm>
            <a:off x="4754880" y="1188720"/>
            <a:ext cx="3931920" cy="2651760"/>
          </a:xfrm>
          <a:prstGeom prst="rect">
            <a:avLst/>
          </a:prstGeom>
          <a:noFill/>
        </p:spPr>
        <p:txBody>
          <a:bodyPr wrap="square">
            <a:normAutofit/>
          </a:bodyPr>
          <a:lstStyle/>
          <a:p>
            <a:pPr>
              <a:spcBef>
                <a:spcPts val="600"/>
              </a:spcBef>
              <a:spcAft>
                <a:spcPts val="300"/>
              </a:spcAft>
              <a:defRPr sz="1600" b="1">
                <a:solidFill>
                  <a:srgbClr val="C8DCFF"/>
                </a:solidFill>
                <a:latin typeface="Arial"/>
              </a:defRPr>
            </a:pPr>
            <a:r>
              <a:t>Ransomware-as-a-Service (RaaS) Proliferation: RaaS models have democratized access to sophisticated ransomware tools, lowering the barrier to entry for cybercriminals. This has led to a significant increase in attacks, with LockBit and Conti gangs dominating, necessitating proactive data backup strategies, strong endpoint protection, and a well-tested incident response plan.</a:t>
            </a:r>
          </a:p>
          <a:p>
            <a:pPr>
              <a:spcBef>
                <a:spcPts val="600"/>
              </a:spcBef>
              <a:spcAft>
                <a:spcPts val="300"/>
              </a:spcAft>
              <a:defRPr sz="1600" b="1">
                <a:solidFill>
                  <a:srgbClr val="C8DCFF"/>
                </a:solidFill>
                <a:latin typeface="Arial"/>
              </a:defRPr>
            </a:pPr>
            <a:r>
              <a:t>Cloud Security Misconfigurations: Rapid adoption of cloud services often leads to misconfigurations in identity and access management (IAM) policies, storage buckets (e.g., S3 buckets), and network settings, exposing sensitive data to the public internet. Continuous cloud security posture management (CSPM) and adherence to best practices are vital to prevent inadvertent data exposure.</a:t>
            </a:r>
          </a:p>
          <a:p>
            <a:pPr>
              <a:spcBef>
                <a:spcPts val="600"/>
              </a:spcBef>
              <a:spcAft>
                <a:spcPts val="300"/>
              </a:spcAft>
              <a:defRPr sz="1600" b="1">
                <a:solidFill>
                  <a:srgbClr val="C8DCFF"/>
                </a:solidFill>
                <a:latin typeface="Arial"/>
              </a:defRPr>
            </a:pPr>
            <a:r>
              <a:t>Evolving Insider Threats: Insider threats, whether malicious or negligent, remain a significant concern, responsible for 34% of data breaches. Examples include disgruntled employees exfiltrating data or accidental disclosure due to human error. Implementing robust access controls, user behavior analytics (UBA), and data loss prevention (DLP) solutions can effectively minimize this internal risk.</a:t>
            </a:r>
          </a:p>
          <a:p>
            <a:pPr>
              <a:spcBef>
                <a:spcPts val="600"/>
              </a:spcBef>
              <a:spcAft>
                <a:spcPts val="300"/>
              </a:spcAft>
              <a:defRPr sz="1600" b="1">
                <a:solidFill>
                  <a:srgbClr val="C8DCFF"/>
                </a:solidFill>
                <a:latin typeface="Arial"/>
              </a:defRPr>
            </a:pPr>
            <a:r>
              <a:t>Zero-Day Exploits: These are previously unknown software vulnerabilities that attackers exploit before developers can release a patch, making them extremely dangerous. Organizations must employ advanced threat detection systems, threat intelligence feeds, and proactive patch management strategies to reduce the window of vulnerability, acknowledging that a true zero-day is difficult to defend against.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normAutofit/>
          </a:bodyPr>
          <a:lstStyle/>
          <a:p>
            <a:pPr>
              <a:defRPr sz="3600" b="1">
                <a:solidFill>
                  <a:srgbClr val="8AB4FF"/>
                </a:solidFill>
                <a:latin typeface="Arial"/>
              </a:defRPr>
            </a:pPr>
            <a:r>
              <a:t>Impact on Business and Economy</a:t>
            </a:r>
          </a:p>
        </p:txBody>
      </p:sp>
      <p:sp>
        <p:nvSpPr>
          <p:cNvPr id="3" name="TextBox 2"/>
          <p:cNvSpPr txBox="1"/>
          <p:nvPr/>
        </p:nvSpPr>
        <p:spPr>
          <a:xfrm>
            <a:off x="274320" y="1188720"/>
            <a:ext cx="3931920" cy="2651760"/>
          </a:xfrm>
          <a:prstGeom prst="rect">
            <a:avLst/>
          </a:prstGeom>
          <a:noFill/>
        </p:spPr>
        <p:txBody>
          <a:bodyPr wrap="square">
            <a:normAutofit/>
          </a:bodyPr>
          <a:lstStyle/>
          <a:p>
            <a:pPr>
              <a:spcBef>
                <a:spcPts val="600"/>
              </a:spcBef>
              <a:spcAft>
                <a:spcPts val="300"/>
              </a:spcAft>
              <a:defRPr sz="1600" b="1">
                <a:solidFill>
                  <a:srgbClr val="C8DCFF"/>
                </a:solidFill>
                <a:latin typeface="Arial"/>
              </a:defRPr>
            </a:pPr>
            <a:r>
              <a:t>Crippling Financial Losses: Cyberattacks result in direct financial losses from fraud, ransom payments, recovery costs, and legal fees. For instance, the average cost of a data breach in 2023 reached $4.45 million, excluding long-term impact, underscoring the necessity for robust cybersecurity investments to protect the bottom line.</a:t>
            </a:r>
          </a:p>
          <a:p>
            <a:pPr>
              <a:spcBef>
                <a:spcPts val="600"/>
              </a:spcBef>
              <a:spcAft>
                <a:spcPts val="300"/>
              </a:spcAft>
              <a:defRPr sz="1600" b="1">
                <a:solidFill>
                  <a:srgbClr val="C8DCFF"/>
                </a:solidFill>
                <a:latin typeface="Arial"/>
              </a:defRPr>
            </a:pPr>
            <a:r>
              <a:t>Severe Reputational Damage: A data breach erodes customer trust, damages brand reputation, and can lead to significant customer churn. The Marriott breach, exposing 500 million customer records, exemplifies how such incidents can permanently tarnish a brand's image and market value, requiring extensive PR and remediation efforts.</a:t>
            </a:r>
          </a:p>
          <a:p>
            <a:pPr>
              <a:spcBef>
                <a:spcPts val="600"/>
              </a:spcBef>
              <a:spcAft>
                <a:spcPts val="300"/>
              </a:spcAft>
              <a:defRPr sz="1600" b="1">
                <a:solidFill>
                  <a:srgbClr val="C8DCFF"/>
                </a:solidFill>
                <a:latin typeface="Arial"/>
              </a:defRPr>
            </a:pPr>
            <a:r>
              <a:t>Operational Disruption and Downtime: Cyberattacks, especially ransomware and DoS, can bring business operations to a standstill, leading to lost productivity and revenue. Colonial Pipeline's 2021 ransomware attack disrupted fuel supply for days, demonstrating how cyber incidents can have tangible, real-world economic and logistical consequences.</a:t>
            </a:r>
          </a:p>
        </p:txBody>
      </p:sp>
      <p:sp>
        <p:nvSpPr>
          <p:cNvPr id="4" name="TextBox 3"/>
          <p:cNvSpPr txBox="1"/>
          <p:nvPr/>
        </p:nvSpPr>
        <p:spPr>
          <a:xfrm>
            <a:off x="4754880" y="1188720"/>
            <a:ext cx="3931920" cy="2651760"/>
          </a:xfrm>
          <a:prstGeom prst="rect">
            <a:avLst/>
          </a:prstGeom>
          <a:noFill/>
        </p:spPr>
        <p:txBody>
          <a:bodyPr wrap="square">
            <a:normAutofit/>
          </a:bodyPr>
          <a:lstStyle/>
          <a:p>
            <a:pPr>
              <a:spcBef>
                <a:spcPts val="600"/>
              </a:spcBef>
              <a:spcAft>
                <a:spcPts val="300"/>
              </a:spcAft>
              <a:defRPr sz="1600" b="1">
                <a:solidFill>
                  <a:srgbClr val="C8DCFF"/>
                </a:solidFill>
                <a:latin typeface="Arial"/>
              </a:defRPr>
            </a:pPr>
            <a:r>
              <a:t>Exorbitant Regulatory Penalties: Non-compliance with data protection regulations like GDPR, CCPA, or HIPAA following a breach can result in massive fines. British Airways faced a £20 million fine under GDPR for a 2018 data breach, highlighting the severe financial repercussions of inadequate data security measures.</a:t>
            </a:r>
          </a:p>
          <a:p>
            <a:pPr>
              <a:spcBef>
                <a:spcPts val="600"/>
              </a:spcBef>
              <a:spcAft>
                <a:spcPts val="300"/>
              </a:spcAft>
              <a:defRPr sz="1600" b="1">
                <a:solidFill>
                  <a:srgbClr val="C8DCFF"/>
                </a:solidFill>
                <a:latin typeface="Arial"/>
              </a:defRPr>
            </a:pPr>
            <a:r>
              <a:t>Intellectual Property Theft: State-sponsored or corporate espionage can lead to the theft of valuable intellectual property (IP), including trade secrets, product designs, and research data. This loss can undermine a company's competitive advantage, innovation pipeline, and long-term market position, requiring advanced threat detection for IP protection.</a:t>
            </a:r>
          </a:p>
          <a:p>
            <a:pPr>
              <a:spcBef>
                <a:spcPts val="600"/>
              </a:spcBef>
              <a:spcAft>
                <a:spcPts val="300"/>
              </a:spcAft>
              <a:defRPr sz="1600" b="1">
                <a:solidFill>
                  <a:srgbClr val="C8DCFF"/>
                </a:solidFill>
                <a:latin typeface="Arial"/>
              </a:defRPr>
            </a:pPr>
            <a:r>
              <a:t>Supply Chain Ripple Effects: A cyberattack on one vendor can trigger a domino effect across an entire supply chain, disrupting operations for numerous interconnected businesses. The NotPetya attack, initially targeting Ukraine, spread globally and caused billions in damages to companies like Maersk, illustrating the interconnected nature of modern business risks.</a:t>
            </a:r>
          </a:p>
          <a:p>
            <a:pPr>
              <a:spcBef>
                <a:spcPts val="600"/>
              </a:spcBef>
              <a:spcAft>
                <a:spcPts val="300"/>
              </a:spcAft>
              <a:defRPr sz="1600" b="1">
                <a:solidFill>
                  <a:srgbClr val="C8DCFF"/>
                </a:solidFill>
                <a:latin typeface="Arial"/>
              </a:defRPr>
            </a:pPr>
            <a:r>
              <a:t>Increased Insurance Premiums &amp; Compliance Costs: Companies face rising cybersecurity insurance premiums and increasing compliance costs due to escalating cyber threats and evolving regulatory requirements. These overheads reflect the heightened risk environment, compelling organizations to demonstrate robust security postures to maintain insurability and avoid additional expenses.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normAutofit/>
          </a:bodyPr>
          <a:lstStyle/>
          <a:p>
            <a:pPr>
              <a:defRPr sz="3600" b="1">
                <a:solidFill>
                  <a:srgbClr val="8AB4FF"/>
                </a:solidFill>
                <a:latin typeface="Arial"/>
              </a:defRPr>
            </a:pPr>
            <a:r>
              <a:t>Proactive Cyber Defense Strategies</a:t>
            </a:r>
          </a:p>
        </p:txBody>
      </p:sp>
      <p:sp>
        <p:nvSpPr>
          <p:cNvPr id="3" name="TextBox 2"/>
          <p:cNvSpPr txBox="1"/>
          <p:nvPr/>
        </p:nvSpPr>
        <p:spPr>
          <a:xfrm>
            <a:off x="274320" y="1188720"/>
            <a:ext cx="3931920" cy="2651760"/>
          </a:xfrm>
          <a:prstGeom prst="rect">
            <a:avLst/>
          </a:prstGeom>
          <a:noFill/>
        </p:spPr>
        <p:txBody>
          <a:bodyPr wrap="square">
            <a:normAutofit/>
          </a:bodyPr>
          <a:lstStyle/>
          <a:p>
            <a:pPr>
              <a:spcBef>
                <a:spcPts val="600"/>
              </a:spcBef>
              <a:spcAft>
                <a:spcPts val="300"/>
              </a:spcAft>
              <a:defRPr sz="1600" b="1">
                <a:solidFill>
                  <a:srgbClr val="C8DCFF"/>
                </a:solidFill>
                <a:latin typeface="Arial"/>
              </a:defRPr>
            </a:pPr>
            <a:r>
              <a:t>Robust Incident Response Plans (IRPs): Developing and regularly testing a comprehensive IRP is paramount. This includes clearly defined roles, communication protocols, forensic investigation steps, and recovery procedures to minimize damage and downtime following a breach. Simulated attack exercises (tabletop and live) ensure readiness and refine response capabilities.</a:t>
            </a:r>
          </a:p>
          <a:p>
            <a:pPr>
              <a:spcBef>
                <a:spcPts val="600"/>
              </a:spcBef>
              <a:spcAft>
                <a:spcPts val="300"/>
              </a:spcAft>
              <a:defRPr sz="1600" b="1">
                <a:solidFill>
                  <a:srgbClr val="C8DCFF"/>
                </a:solidFill>
                <a:latin typeface="Arial"/>
              </a:defRPr>
            </a:pPr>
            <a:r>
              <a:t>Continuous Employee Training &amp; Awareness: Implementing mandatory, recurring cybersecurity awareness training for all employees significantly reduces the human error factor. Training should cover phishing recognition, social engineering tactics, strong password hygiene, and data handling protocols, transforming employees into active defenders.</a:t>
            </a:r>
          </a:p>
          <a:p>
            <a:pPr>
              <a:spcBef>
                <a:spcPts val="600"/>
              </a:spcBef>
              <a:spcAft>
                <a:spcPts val="300"/>
              </a:spcAft>
              <a:defRPr sz="1600" b="1">
                <a:solidFill>
                  <a:srgbClr val="C8DCFF"/>
                </a:solidFill>
                <a:latin typeface="Arial"/>
              </a:defRPr>
            </a:pPr>
            <a:r>
              <a:t>Multi-Factor Authentication (MFA) Enforcement: Mandating MFA for all critical systems, applications, and remote access layers drastically reduces the risk of unauthorized access due to compromised credentials. Industry data shows MFA can block over 99.9% of automated attacks, making it a foundational security control.</a:t>
            </a:r>
          </a:p>
        </p:txBody>
      </p:sp>
      <p:sp>
        <p:nvSpPr>
          <p:cNvPr id="4" name="TextBox 3"/>
          <p:cNvSpPr txBox="1"/>
          <p:nvPr/>
        </p:nvSpPr>
        <p:spPr>
          <a:xfrm>
            <a:off x="4754880" y="1188720"/>
            <a:ext cx="3931920" cy="2651760"/>
          </a:xfrm>
          <a:prstGeom prst="rect">
            <a:avLst/>
          </a:prstGeom>
          <a:noFill/>
        </p:spPr>
        <p:txBody>
          <a:bodyPr wrap="square">
            <a:normAutofit/>
          </a:bodyPr>
          <a:lstStyle/>
          <a:p>
            <a:pPr>
              <a:spcBef>
                <a:spcPts val="600"/>
              </a:spcBef>
              <a:spcAft>
                <a:spcPts val="300"/>
              </a:spcAft>
              <a:defRPr sz="1600" b="1">
                <a:solidFill>
                  <a:srgbClr val="C8DCFF"/>
                </a:solidFill>
                <a:latin typeface="Arial"/>
              </a:defRPr>
            </a:pPr>
            <a:r>
              <a:t>Regular Security Audits and Penetration Testing: Conducting periodic security audits, vulnerability assessments, and penetration tests (pen-tests) identifies weaknesses in infrastructure, applications, and configurations before attackers exploit them. These proactive assessments, often performed by ethical hackers, provide actionable insights for hardening defenses.</a:t>
            </a:r>
          </a:p>
          <a:p>
            <a:pPr>
              <a:spcBef>
                <a:spcPts val="600"/>
              </a:spcBef>
              <a:spcAft>
                <a:spcPts val="300"/>
              </a:spcAft>
              <a:defRPr sz="1600" b="1">
                <a:solidFill>
                  <a:srgbClr val="C8DCFF"/>
                </a:solidFill>
                <a:latin typeface="Arial"/>
              </a:defRPr>
            </a:pPr>
            <a:r>
              <a:t>Network Segmentation &amp; Least Privilege Access: Segmenting networks isolates critical systems and data, limiting an attacker's lateral movement in the event of a breach. Implementing the principle of least privilege ensures users and systems only have the minimum necessary access rights, significantly reducing the impact of compromised accounts.</a:t>
            </a:r>
          </a:p>
          <a:p>
            <a:pPr>
              <a:spcBef>
                <a:spcPts val="600"/>
              </a:spcBef>
              <a:spcAft>
                <a:spcPts val="300"/>
              </a:spcAft>
              <a:defRPr sz="1600" b="1">
                <a:solidFill>
                  <a:srgbClr val="C8DCFF"/>
                </a:solidFill>
                <a:latin typeface="Arial"/>
              </a:defRPr>
            </a:pPr>
            <a:r>
              <a:t>Advanced Endpoint Detection &amp; Response (EDR): Deploying EDR solutions provides real-time visibility into endpoint activity, enabling rapid detection, investigation, and response to sophisticated threats that bypass traditional antivirus. EDR's behavioral analytics and automated response capabilities are crucial for containing advanced persistent threats (APTs).</a:t>
            </a:r>
          </a:p>
          <a:p>
            <a:pPr>
              <a:spcBef>
                <a:spcPts val="600"/>
              </a:spcBef>
              <a:spcAft>
                <a:spcPts val="300"/>
              </a:spcAft>
              <a:defRPr sz="1600" b="1">
                <a:solidFill>
                  <a:srgbClr val="C8DCFF"/>
                </a:solidFill>
                <a:latin typeface="Arial"/>
              </a:defRPr>
            </a:pPr>
            <a:r>
              <a:t>Threat Intelligence Sharing &amp; Collaboration: Participating in industry-specific Information Sharing and Analysis Centers (ISACs) and leveraging commercial threat intelligence feeds provides early warnings about emerging threats, attacker tactics, techniques, and procedures (TTPs). Proactive intelligence allows organizations to bolster defenses against known and anticipated attack vectors.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normAutofit/>
          </a:bodyPr>
          <a:lstStyle/>
          <a:p>
            <a:pPr>
              <a:defRPr sz="3600" b="1">
                <a:solidFill>
                  <a:srgbClr val="8AB4FF"/>
                </a:solidFill>
                <a:latin typeface="Arial"/>
              </a:defRPr>
            </a:pPr>
            <a:r>
              <a:t>Building a Resilient Cyber Culture</a:t>
            </a:r>
          </a:p>
        </p:txBody>
      </p:sp>
      <p:sp>
        <p:nvSpPr>
          <p:cNvPr id="3" name="TextBox 2"/>
          <p:cNvSpPr txBox="1"/>
          <p:nvPr/>
        </p:nvSpPr>
        <p:spPr>
          <a:xfrm>
            <a:off x="274320" y="1188720"/>
            <a:ext cx="3931920" cy="2651760"/>
          </a:xfrm>
          <a:prstGeom prst="rect">
            <a:avLst/>
          </a:prstGeom>
          <a:noFill/>
        </p:spPr>
        <p:txBody>
          <a:bodyPr wrap="square">
            <a:normAutofit/>
          </a:bodyPr>
          <a:lstStyle/>
          <a:p>
            <a:pPr>
              <a:spcBef>
                <a:spcPts val="600"/>
              </a:spcBef>
              <a:spcAft>
                <a:spcPts val="300"/>
              </a:spcAft>
              <a:defRPr sz="1600" b="1">
                <a:solidFill>
                  <a:srgbClr val="C8DCFF"/>
                </a:solidFill>
                <a:latin typeface="Arial"/>
              </a:defRPr>
            </a:pPr>
            <a:r>
              <a:t>Leadership Commitment &amp; Budget Allocation: Cybersecurity must be a top-down strategic priority, with executive leadership actively championing security initiatives and allocating sufficient budget for technology, personnel, and training. This commitment fosters a security-conscious culture, recognizing cyber risk as a fundamental business risk.</a:t>
            </a:r>
          </a:p>
          <a:p>
            <a:pPr>
              <a:spcBef>
                <a:spcPts val="600"/>
              </a:spcBef>
              <a:spcAft>
                <a:spcPts val="300"/>
              </a:spcAft>
              <a:defRPr sz="1600" b="1">
                <a:solidFill>
                  <a:srgbClr val="C8DCFF"/>
                </a:solidFill>
                <a:latin typeface="Arial"/>
              </a:defRPr>
            </a:pPr>
            <a:r>
              <a:t>Integrating Security into Development (DevSecOps): Embedding security practices and controls throughout the entire software development lifecycle (SDLC) is critical. DevSecOps principles promote collaboration between development, security, and operations teams to identify and remediate vulnerabilities early, reducing costly fixes post-deployment.</a:t>
            </a:r>
          </a:p>
          <a:p>
            <a:pPr>
              <a:spcBef>
                <a:spcPts val="600"/>
              </a:spcBef>
              <a:spcAft>
                <a:spcPts val="300"/>
              </a:spcAft>
              <a:defRPr sz="1600" b="1">
                <a:solidFill>
                  <a:srgbClr val="C8DCFF"/>
                </a:solidFill>
                <a:latin typeface="Arial"/>
              </a:defRPr>
            </a:pPr>
            <a:r>
              <a:t>Continuous Monitoring &amp; Adaptive Security: Implementing 24/7 security monitoring through Security Operations Centers (SOCs) or managed security services (MSSPs) is essential for real-time threat detection and rapid response. An adaptive security architecture evolves with the threat landscape, continuously assessing risks and adjusting defenses dynamically.</a:t>
            </a:r>
          </a:p>
        </p:txBody>
      </p:sp>
      <p:sp>
        <p:nvSpPr>
          <p:cNvPr id="4" name="TextBox 3"/>
          <p:cNvSpPr txBox="1"/>
          <p:nvPr/>
        </p:nvSpPr>
        <p:spPr>
          <a:xfrm>
            <a:off x="4754880" y="1188720"/>
            <a:ext cx="3931920" cy="2651760"/>
          </a:xfrm>
          <a:prstGeom prst="rect">
            <a:avLst/>
          </a:prstGeom>
          <a:noFill/>
        </p:spPr>
        <p:txBody>
          <a:bodyPr wrap="square">
            <a:normAutofit/>
          </a:bodyPr>
          <a:lstStyle/>
          <a:p>
            <a:pPr>
              <a:spcBef>
                <a:spcPts val="600"/>
              </a:spcBef>
              <a:spcAft>
                <a:spcPts val="300"/>
              </a:spcAft>
              <a:defRPr sz="1600" b="1">
                <a:solidFill>
                  <a:srgbClr val="C8DCFF"/>
                </a:solidFill>
                <a:latin typeface="Arial"/>
              </a:defRPr>
            </a:pPr>
            <a:r>
              <a:t>Robust Vendor Risk Management (VRM): Establishing a comprehensive VRM program assesses the cybersecurity posture of all third-party vendors, partners, and suppliers. This includes contractually binding security requirements, regular audits, and continuous monitoring to mitigate risks introduced through the supply chain.</a:t>
            </a:r>
          </a:p>
          <a:p>
            <a:pPr>
              <a:spcBef>
                <a:spcPts val="600"/>
              </a:spcBef>
              <a:spcAft>
                <a:spcPts val="300"/>
              </a:spcAft>
              <a:defRPr sz="1600" b="1">
                <a:solidFill>
                  <a:srgbClr val="C8DCFF"/>
                </a:solidFill>
                <a:latin typeface="Arial"/>
              </a:defRPr>
            </a:pPr>
            <a:r>
              <a:t>Disaster Recovery &amp; Business Continuity: Developing and regularly testing robust disaster recovery (DR) and business continuity plans (BCP) ensures an organization can quickly resume critical operations after a major cyber incident or natural disaster. This includes data backup strategies, redundant infrastructure, and clear communication protocols.</a:t>
            </a:r>
          </a:p>
          <a:p>
            <a:pPr>
              <a:spcBef>
                <a:spcPts val="600"/>
              </a:spcBef>
              <a:spcAft>
                <a:spcPts val="300"/>
              </a:spcAft>
              <a:defRPr sz="1600" b="1">
                <a:solidFill>
                  <a:srgbClr val="C8DCFF"/>
                </a:solidFill>
                <a:latin typeface="Arial"/>
              </a:defRPr>
            </a:pPr>
            <a:r>
              <a:t>Legal and Compliance Frameworks Integration: Aligning cybersecurity strategies with relevant legal and regulatory frameworks (e.g., GDPR, HIPAA, NIST, ISO 27001) is not merely a compliance checkbox but a foundational element for responsible data governance. This proactive integration minimizes legal exposure and builds trust with stakeholders.</a:t>
            </a:r>
          </a:p>
          <a:p>
            <a:pPr>
              <a:spcBef>
                <a:spcPts val="600"/>
              </a:spcBef>
              <a:spcAft>
                <a:spcPts val="300"/>
              </a:spcAft>
              <a:defRPr sz="1600" b="1">
                <a:solidFill>
                  <a:srgbClr val="C8DCFF"/>
                </a:solidFill>
                <a:latin typeface="Arial"/>
              </a:defRPr>
            </a:pPr>
            <a:r>
              <a:t>Fostering a 'Security-First' Mindset: Cultivating an organizational culture where every employee understands their role in cybersecurity and prioritizes security in their daily tasks is paramount. This involves transparent communication, positive reinforcement for secure behaviors, and making security an ingrained part of the company's DNA, rather than just an IT function.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