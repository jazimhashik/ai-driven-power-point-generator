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8A745"/>
                </a:solidFill>
                <a:latin typeface="Roboto"/>
              </a:defRPr>
            </a:pPr>
            <a:r>
              <a:rPr>
                <a:latin typeface="Roboto"/>
              </a:rPr>
              <a:t>cybercrime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28A745"/>
                </a:solidFill>
                <a:latin typeface="Roboto"/>
              </a:defRPr>
            </a:pPr>
            <a:r>
              <a:rPr>
                <a:latin typeface="Roboto"/>
              </a:rPr>
              <a:t>The Cybercrime Landscape in India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333333"/>
                </a:solidFill>
                <a:latin typeface="Roboto"/>
              </a:defRPr>
            </a:pPr>
            <a:r>
              <a:rPr>
                <a:latin typeface="Roboto"/>
              </a:rPr>
              <a:t>India faces a significant surge in cybercrime, driven by rapid digital adopti...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333333"/>
                </a:solidFill>
                <a:latin typeface="Roboto"/>
              </a:defRPr>
            </a:pPr>
            <a:r>
              <a:rPr>
                <a:latin typeface="Roboto"/>
              </a:rPr>
              <a:t>Financial fraud, phishing, and fake customer support scams are rampant across...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333333"/>
                </a:solidFill>
                <a:latin typeface="Roboto"/>
              </a:defRPr>
            </a:pPr>
            <a:r>
              <a:rPr>
                <a:latin typeface="Roboto"/>
              </a:rPr>
              <a:t>Small and Medium Enterprises (SMEs) and individuals are frequently targeted d...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333333"/>
                </a:solidFill>
                <a:latin typeface="Roboto"/>
              </a:defRPr>
            </a:pPr>
            <a:r>
              <a:rPr>
                <a:latin typeface="Roboto"/>
              </a:rPr>
              <a:t>The Banking, Financial Services, and Insurance (BFSI) sector is a prime targe...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333333"/>
                </a:solidFill>
                <a:latin typeface="Roboto"/>
              </a:defRPr>
            </a:pPr>
            <a:r>
              <a:rPr>
                <a:latin typeface="Roboto"/>
              </a:rPr>
              <a:t>Lack of cybersecurity awareness among the general public contributes to succe...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333333"/>
                </a:solidFill>
                <a:latin typeface="Roboto"/>
              </a:defRPr>
            </a:pPr>
            <a:r>
              <a:rPr>
                <a:latin typeface="Roboto"/>
              </a:rPr>
              <a:t>India's Computer Emergency Response Team (CERT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28A745"/>
                </a:solidFill>
                <a:latin typeface="Roboto"/>
              </a:defRPr>
            </a:pPr>
            <a:r>
              <a:rPr>
                <a:latin typeface="Roboto"/>
              </a:rPr>
              <a:t>Key Threats and Emerging Trends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333333"/>
                </a:solidFill>
                <a:latin typeface="Roboto"/>
              </a:defRPr>
            </a:pPr>
            <a:r>
              <a:rPr>
                <a:latin typeface="Roboto"/>
              </a:rPr>
              <a:t>Ransomware remains a dominant threat, encrypting data and demanding cryptocur...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333333"/>
                </a:solidFill>
                <a:latin typeface="Roboto"/>
              </a:defRPr>
            </a:pPr>
            <a:r>
              <a:rPr>
                <a:latin typeface="Roboto"/>
              </a:rPr>
              <a:t>Phishing and spear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333333"/>
                </a:solidFill>
                <a:latin typeface="Roboto"/>
              </a:defRPr>
            </a:pPr>
            <a:r>
              <a:rPr>
                <a:latin typeface="Roboto"/>
              </a:rPr>
              <a:t>phishing campaigns are becoming more sophisticated, using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333333"/>
                </a:solidFill>
                <a:latin typeface="Roboto"/>
              </a:defRPr>
            </a:pPr>
            <a:r>
              <a:rPr>
                <a:latin typeface="Roboto"/>
              </a:rPr>
              <a:t>generated content.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333333"/>
                </a:solidFill>
                <a:latin typeface="Roboto"/>
              </a:defRPr>
            </a:pPr>
            <a:r>
              <a:rPr>
                <a:latin typeface="Roboto"/>
              </a:rPr>
              <a:t>Data breaches often involve the theft of personally identifiable information 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333333"/>
                </a:solidFill>
                <a:latin typeface="Roboto"/>
              </a:defRPr>
            </a:pPr>
            <a:r>
              <a:rPr>
                <a:latin typeface="Roboto"/>
              </a:rPr>
              <a:t>Supply chain attacks target vulnerabilities in third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28A745"/>
                </a:solidFill>
                <a:latin typeface="Roboto"/>
              </a:defRPr>
            </a:pPr>
            <a:r>
              <a:rPr>
                <a:latin typeface="Roboto"/>
              </a:rPr>
              <a:t>Impact and Consequences of Cybercrime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333333"/>
                </a:solidFill>
                <a:latin typeface="Roboto"/>
              </a:defRPr>
            </a:pPr>
            <a:r>
              <a:rPr>
                <a:latin typeface="Roboto"/>
              </a:rPr>
              <a:t>Businesses suffer significant financial losses from fraud, recovery costs, an...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333333"/>
                </a:solidFill>
                <a:latin typeface="Roboto"/>
              </a:defRPr>
            </a:pPr>
            <a:r>
              <a:rPr>
                <a:latin typeface="Roboto"/>
              </a:rPr>
              <a:t>Individuals face identity theft, loss of savings, and severe psychological di...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333333"/>
                </a:solidFill>
                <a:latin typeface="Roboto"/>
              </a:defRPr>
            </a:pPr>
            <a:r>
              <a:rPr>
                <a:latin typeface="Roboto"/>
              </a:rPr>
              <a:t>Critical infrastructure, including power grids and healthcare systems, are vu...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333333"/>
                </a:solidFill>
                <a:latin typeface="Roboto"/>
              </a:defRPr>
            </a:pPr>
            <a:r>
              <a:rPr>
                <a:latin typeface="Roboto"/>
              </a:rPr>
              <a:t>Loss of intellectual property and trade secrets severely impacts corporate co...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333333"/>
                </a:solidFill>
                <a:latin typeface="Roboto"/>
              </a:defRPr>
            </a:pPr>
            <a:r>
              <a:rPr>
                <a:latin typeface="Roboto"/>
              </a:rPr>
              <a:t>Legal and regulatory fines (e.g., under GDPR, India's upcoming data protectio...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333333"/>
                </a:solidFill>
                <a:latin typeface="Roboto"/>
              </a:defRPr>
            </a:pPr>
            <a:r>
              <a:rPr>
                <a:latin typeface="Roboto"/>
              </a:rPr>
              <a:t>Erodes public trust in digital services, hindering further technological adop...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28A745"/>
                </a:solidFill>
                <a:latin typeface="Roboto"/>
              </a:defRPr>
            </a:pPr>
            <a:r>
              <a:rPr>
                <a:latin typeface="Roboto"/>
              </a:rPr>
              <a:t>Mitigation and Prevention Strategies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333333"/>
                </a:solidFill>
                <a:latin typeface="Roboto"/>
              </a:defRPr>
            </a:pPr>
            <a:r>
              <a:rPr>
                <a:latin typeface="Roboto"/>
              </a:rPr>
              <a:t>Implement strong cybersecurity awareness training for employees and the gener...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333333"/>
                </a:solidFill>
                <a:latin typeface="Roboto"/>
              </a:defRPr>
            </a:pPr>
            <a:r>
              <a:rPr>
                <a:latin typeface="Roboto"/>
              </a:rPr>
              <a:t>Deploy robust security solutions including firewalls, antivirus, and Endpoint...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333333"/>
                </a:solidFill>
                <a:latin typeface="Roboto"/>
              </a:defRPr>
            </a:pPr>
            <a:r>
              <a:rPr>
                <a:latin typeface="Roboto"/>
              </a:rPr>
              <a:t>Enforce Multi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333333"/>
                </a:solidFill>
                <a:latin typeface="Roboto"/>
              </a:defRPr>
            </a:pPr>
            <a:r>
              <a:rPr>
                <a:latin typeface="Roboto"/>
              </a:rPr>
              <a:t>Factor Authentication (MFA) across all accounts and systems.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333333"/>
                </a:solidFill>
                <a:latin typeface="Roboto"/>
              </a:defRPr>
            </a:pPr>
            <a:r>
              <a:rPr>
                <a:latin typeface="Roboto"/>
              </a:rPr>
              <a:t>Regularly update software, operating systems, and applications to patch known...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333333"/>
                </a:solidFill>
                <a:latin typeface="Roboto"/>
              </a:defRPr>
            </a:pPr>
            <a:r>
              <a:rPr>
                <a:latin typeface="Roboto"/>
              </a:rPr>
              <a:t>Develop comprehensive incident response plans to quickly detect, contain, and...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