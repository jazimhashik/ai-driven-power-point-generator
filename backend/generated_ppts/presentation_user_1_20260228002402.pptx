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0A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C3E6"/>
                </a:solidFill>
                <a:latin typeface="Poppins, sans-serif"/>
              </a:defRPr>
            </a:pPr>
            <a:r>
              <a:rPr>
                <a:latin typeface="Poppins, sans-serif"/>
              </a:rPr>
              <a:t>business tips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0A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FF46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600" b="1">
                <a:solidFill>
                  <a:srgbClr val="FFC3E6"/>
                </a:solidFill>
                <a:latin typeface="Poppins, sans-serif"/>
              </a:defRPr>
            </a:pPr>
            <a:r>
              <a:rPr>
                <a:latin typeface="Poppins, sans-serif"/>
              </a:rPr>
              <a:t>Navigating Dynamic Market Landscapes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5486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BC3F5"/>
                </a:solidFill>
                <a:latin typeface="Poppins, sans-serif"/>
              </a:defRPr>
            </a:pPr>
            <a:r>
              <a:rPr>
                <a:latin typeface="Poppins, sans-serif"/>
              </a:rPr>
              <a:t>• Digital Disruption Imperative: The rapid pace of technological advancement forces businesses to adapt or risk obsolescence. 85% of enterprises believe AI will be critical to the...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BC3F5"/>
                </a:solidFill>
                <a:latin typeface="Poppins, sans-serif"/>
              </a:defRPr>
            </a:pPr>
            <a:r>
              <a:rPr>
                <a:latin typeface="Poppins, sans-serif"/>
              </a:rPr>
              <a:t>• Evolving Consumer Expectations: Today's consumers demand personalized experiences, ethical practices, and instant gratification. 73% of customers expect companies to understand ...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BC3F5"/>
                </a:solidFill>
                <a:latin typeface="Poppins, sans-serif"/>
              </a:defRPr>
            </a:pPr>
            <a:r>
              <a:rPr>
                <a:latin typeface="Poppins, sans-serif"/>
              </a:rPr>
              <a:t>• Global Competition Intensification: Market globalization has increased competitive pressures across all sectors, requiring greater differentiation and efficiency. Small business...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BC3F5"/>
                </a:solidFill>
                <a:latin typeface="Poppins, sans-serif"/>
              </a:defRPr>
            </a:pPr>
            <a:r>
              <a:rPr>
                <a:latin typeface="Poppins, sans-serif"/>
              </a:rPr>
              <a:t>• Talent Acquisition &amp; Retention Challenges: The "Great Resignation" highlighted the growing difficulty in attracting and retaining skilled employees. Companies offering competiti...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BC3F5"/>
                </a:solidFill>
                <a:latin typeface="Poppins, sans-serif"/>
              </a:defRPr>
            </a:pPr>
            <a:r>
              <a:rPr>
                <a:latin typeface="Poppins, sans-serif"/>
              </a:rPr>
              <a:t>• Data Overload and Security Risks: Businesses are awash in data, but extracting meaningful insights and ensuring security remain major hurdles. 60% of organizations have experien...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0A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FF46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600" b="1">
                <a:solidFill>
                  <a:srgbClr val="FFC3E6"/>
                </a:solidFill>
                <a:latin typeface="Poppins, sans-serif"/>
              </a:defRPr>
            </a:pPr>
            <a:r>
              <a:rPr>
                <a:latin typeface="Poppins, sans-serif"/>
              </a:rPr>
              <a:t>Pillars of Sustainable Enterprise Success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5486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BC3F5"/>
                </a:solidFill>
                <a:latin typeface="Poppins, sans-serif"/>
              </a:defRPr>
            </a:pPr>
            <a:r>
              <a:rPr>
                <a:latin typeface="Poppins, sans-serif"/>
              </a:rPr>
              <a:t>• Agile Methodologies Adoption: Organizations adopting agile practices achieve 30% faster time-to-market and 25% higher employee engagement. Implementing two-week sprints and dail...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BC3F5"/>
                </a:solidFill>
                <a:latin typeface="Poppins, sans-serif"/>
              </a:defRPr>
            </a:pPr>
            <a:r>
              <a:rPr>
                <a:latin typeface="Poppins, sans-serif"/>
              </a:rPr>
              <a:t>• Customer-Centricity as a Core Value: Companies with a strong customer-centric culture outperform competitors by nearly 60% in profitability. A financial services company increas...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BC3F5"/>
                </a:solidFill>
                <a:latin typeface="Poppins, sans-serif"/>
              </a:defRPr>
            </a:pPr>
            <a:r>
              <a:rPr>
                <a:latin typeface="Poppins, sans-serif"/>
              </a:rPr>
              <a:t>• Data-Driven Strategic Planning: Basing decisions on empirical evidence rather than intuition leads to 2-3x higher ROI on marketing spend. A CPG brand utilized purchase data to i...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BC3F5"/>
                </a:solidFill>
                <a:latin typeface="Poppins, sans-serif"/>
              </a:defRPr>
            </a:pPr>
            <a:r>
              <a:rPr>
                <a:latin typeface="Poppins, sans-serif"/>
              </a:rPr>
              <a:t>• Continuous Innovation Ecosystem: Fostering an environment that encourages experimentation and learning drives long-term market relevance. Google's "20% time" policy, allowing em...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BC3F5"/>
                </a:solidFill>
                <a:latin typeface="Poppins, sans-serif"/>
              </a:defRPr>
            </a:pPr>
            <a:r>
              <a:rPr>
                <a:latin typeface="Poppins, sans-serif"/>
              </a:rPr>
              <a:t>• Robust Financial Management: Prudent financial oversight and capital allocation are fundamental for resilience and growth. Businesses with strong cash flow management survived e...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0A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FF46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600" b="1">
                <a:solidFill>
                  <a:srgbClr val="FFC3E6"/>
                </a:solidFill>
                <a:latin typeface="Poppins, sans-serif"/>
              </a:defRPr>
            </a:pPr>
            <a:r>
              <a:rPr>
                <a:latin typeface="Poppins, sans-serif"/>
              </a:rPr>
              <a:t>Proven Tactics for Business Advancement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5486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BC3F5"/>
                </a:solidFill>
                <a:latin typeface="Poppins, sans-serif"/>
              </a:defRPr>
            </a:pPr>
            <a:r>
              <a:rPr>
                <a:latin typeface="Poppins, sans-serif"/>
              </a:rPr>
              <a:t>• Digital Transformation ROI: A logistics firm invested $2M in AI-powered route optimization and warehouse automation, yielding $8M in annual savings through reduced fuel costs (2...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BC3F5"/>
                </a:solidFill>
                <a:latin typeface="Poppins, sans-serif"/>
              </a:defRPr>
            </a:pPr>
            <a:r>
              <a:rPr>
                <a:latin typeface="Poppins, sans-serif"/>
              </a:rPr>
              <a:t>• Customer Experience Enhancement: By redesigning its online self-service portal, a telecom provider reduced customer service call volume by 25% and improved customer satisfaction...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BC3F5"/>
                </a:solidFill>
                <a:latin typeface="Poppins, sans-serif"/>
              </a:defRPr>
            </a:pPr>
            <a:r>
              <a:rPr>
                <a:latin typeface="Poppins, sans-serif"/>
              </a:rPr>
              <a:t>• Market Expansion Success: A regional food producer successfully entered two new geographic markets within 18 months, leveraging localized marketing campaigns and strategic partn...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BC3F5"/>
                </a:solidFill>
                <a:latin typeface="Poppins, sans-serif"/>
              </a:defRPr>
            </a:pPr>
            <a:r>
              <a:rPr>
                <a:latin typeface="Poppins, sans-serif"/>
              </a:rPr>
              <a:t>• Employee Engagement Impact: Following the implementation of a comprehensive wellness program and flexible work policies, a software company saw a 12% increase in employee produc...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BC3F5"/>
                </a:solidFill>
                <a:latin typeface="Poppins, sans-serif"/>
              </a:defRPr>
            </a:pPr>
            <a:r>
              <a:rPr>
                <a:latin typeface="Poppins, sans-serif"/>
              </a:rPr>
              <a:t>• Supply Chain Resilience: After a major disruption, an apparel retailer diversified its supplier base across three continents and implemented real-time tracking. This reduced lea...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0A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FF46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600" b="1">
                <a:solidFill>
                  <a:srgbClr val="FFC3E6"/>
                </a:solidFill>
                <a:latin typeface="Poppins, sans-serif"/>
              </a:defRPr>
            </a:pPr>
            <a:r>
              <a:rPr>
                <a:latin typeface="Poppins, sans-serif"/>
              </a:rPr>
              <a:t>Strategic Actions for Future Growth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5486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BC3F5"/>
                </a:solidFill>
                <a:latin typeface="Poppins, sans-serif"/>
              </a:defRPr>
            </a:pPr>
            <a:r>
              <a:rPr>
                <a:latin typeface="Poppins, sans-serif"/>
              </a:rPr>
              <a:t>• Implement AI &amp; Automation: Begin with pilot programs in customer service (chatbots) or data analytics, aiming to reduce manual processing by 30% and improve response times by 40...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BC3F5"/>
                </a:solidFill>
                <a:latin typeface="Poppins, sans-serif"/>
              </a:defRPr>
            </a:pPr>
            <a:r>
              <a:rPr>
                <a:latin typeface="Poppins, sans-serif"/>
              </a:rPr>
              <a:t>• Cultivate a Learning Culture: Establish cross-functional training modules focusing on digital literacy, leadership development, and emergent technologies. Target 80% employee pa...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BC3F5"/>
                </a:solidFill>
                <a:latin typeface="Poppins, sans-serif"/>
              </a:defRPr>
            </a:pPr>
            <a:r>
              <a:rPr>
                <a:latin typeface="Poppins, sans-serif"/>
              </a:rPr>
              <a:t>• Fortify Cybersecurity Protocols: Conduct a comprehensive audit of existing systems and invest in advanced threat detection and prevention technologies. Aim to reduce critical se...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BC3F5"/>
                </a:solidFill>
                <a:latin typeface="Poppins, sans-serif"/>
              </a:defRPr>
            </a:pPr>
            <a:r>
              <a:rPr>
                <a:latin typeface="Poppins, sans-serif"/>
              </a:rPr>
              <a:t>• Prioritize ESG Integration: Develop a clear Environmental, Social, and Governance strategy, setting measurable targets for sustainability (e.g., 20% carbon footprint reduction b...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BC3F5"/>
                </a:solidFill>
                <a:latin typeface="Poppins, sans-serif"/>
              </a:defRPr>
            </a:pPr>
            <a:r>
              <a:rPr>
                <a:latin typeface="Poppins, sans-serif"/>
              </a:rPr>
              <a:t>• Develop Global Market Intelligence: Regularly monitor international market trends, regulatory changes, and competitive landscapes. Create a dedicated task force to identify two ...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