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457200" y="2286000"/>
            <a:ext cx="8229600" cy="1371600"/>
          </a:xfrm>
          <a:prstGeom prst="rect">
            <a:avLst/>
          </a:prstGeom>
          <a:noFill/>
        </p:spPr>
        <p:txBody>
          <a:bodyPr wrap="square">
            <a:spAutoFit/>
          </a:bodyPr>
          <a:lstStyle/>
          <a:p>
            <a:pPr algn="ctr">
              <a:defRPr sz="3600" b="1">
                <a:solidFill>
                  <a:srgbClr val="8AB4FF"/>
                </a:solidFill>
                <a:latin typeface="Arial"/>
              </a:defRPr>
            </a:pPr>
            <a:r>
              <a:t>richest man in india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normAutofit/>
          </a:bodyPr>
          <a:lstStyle/>
          <a:p>
            <a:pPr>
              <a:defRPr sz="3600" b="1">
                <a:solidFill>
                  <a:srgbClr val="8AB4FF"/>
                </a:solidFill>
                <a:latin typeface="Arial"/>
              </a:defRPr>
            </a:pPr>
            <a:r>
              <a:t>Diversifying Beyond Petrochemicals</a:t>
            </a:r>
          </a:p>
        </p:txBody>
      </p:sp>
      <p:sp>
        <p:nvSpPr>
          <p:cNvPr id="3" name="TextBox 2"/>
          <p:cNvSpPr txBox="1"/>
          <p:nvPr/>
        </p:nvSpPr>
        <p:spPr>
          <a:xfrm>
            <a:off x="274320" y="1188720"/>
            <a:ext cx="3931920" cy="2651760"/>
          </a:xfrm>
          <a:prstGeom prst="rect">
            <a:avLst/>
          </a:prstGeom>
          <a:noFill/>
        </p:spPr>
        <p:txBody>
          <a:bodyPr wrap="square">
            <a:normAutofit/>
          </a:bodyPr>
          <a:lstStyle/>
          <a:p>
            <a:pPr>
              <a:spcBef>
                <a:spcPts val="600"/>
              </a:spcBef>
              <a:spcAft>
                <a:spcPts val="300"/>
              </a:spcAft>
              <a:defRPr sz="1600" b="1">
                <a:solidFill>
                  <a:srgbClr val="C8DCFF"/>
                </a:solidFill>
                <a:latin typeface="Arial"/>
              </a:defRPr>
            </a:pPr>
            <a:r>
              <a:t>Reliance Jio Infocomm, launched in 2016, revolutionized India's telecom sector by offering free voice calls and ultra-affordable data, disrupting incumbents and democratizing internet access for hundreds of millions. This strategic move accelerated digital inclusion across India.</a:t>
            </a:r>
          </a:p>
          <a:p>
            <a:pPr>
              <a:spcBef>
                <a:spcPts val="600"/>
              </a:spcBef>
              <a:spcAft>
                <a:spcPts val="300"/>
              </a:spcAft>
              <a:defRPr sz="1600" b="1">
                <a:solidFill>
                  <a:srgbClr val="C8DCFF"/>
                </a:solidFill>
                <a:latin typeface="Arial"/>
              </a:defRPr>
            </a:pPr>
            <a:r>
              <a:t>Reliance Retail is India's largest retailer, operating over 18,000 stores across diverse formats like grocery, electronics, fashion, and jewelry, with a footprint in over 7,000 towns. Its expansion fuels job creation and boosts consumer spending, driving economic growth at the grassroots level.</a:t>
            </a:r>
          </a:p>
          <a:p>
            <a:pPr>
              <a:spcBef>
                <a:spcPts val="600"/>
              </a:spcBef>
              <a:spcAft>
                <a:spcPts val="300"/>
              </a:spcAft>
              <a:defRPr sz="1600" b="1">
                <a:solidFill>
                  <a:srgbClr val="C8DCFF"/>
                </a:solidFill>
                <a:latin typeface="Arial"/>
              </a:defRPr>
            </a:pPr>
            <a:r>
              <a:t>The integration of digital platforms like JioMart with Reliance Retail's extensive physical network represents a powerful omnichannel strategy, connecting local merchants with consumers and modernizing India's retail ecosystem. This synergy enhances market efficiency and reach.</a:t>
            </a:r>
          </a:p>
        </p:txBody>
      </p:sp>
      <p:sp>
        <p:nvSpPr>
          <p:cNvPr id="4" name="TextBox 3"/>
          <p:cNvSpPr txBox="1"/>
          <p:nvPr/>
        </p:nvSpPr>
        <p:spPr>
          <a:xfrm>
            <a:off x="4754880" y="1188720"/>
            <a:ext cx="3931920" cy="2651760"/>
          </a:xfrm>
          <a:prstGeom prst="rect">
            <a:avLst/>
          </a:prstGeom>
          <a:noFill/>
        </p:spPr>
        <p:txBody>
          <a:bodyPr wrap="square">
            <a:normAutofit/>
          </a:bodyPr>
          <a:lstStyle/>
          <a:p>
            <a:pPr>
              <a:spcBef>
                <a:spcPts val="600"/>
              </a:spcBef>
              <a:spcAft>
                <a:spcPts val="300"/>
              </a:spcAft>
              <a:defRPr sz="1600" b="1">
                <a:solidFill>
                  <a:srgbClr val="C8DCFF"/>
                </a:solidFill>
                <a:latin typeface="Arial"/>
              </a:defRPr>
            </a:pPr>
            <a:r>
              <a:t>RIL's media and entertainment arm, Network18, boasts a comprehensive portfolio spanning news, entertainment, and digital content, including CNN-News18 and Colors TV. This diversification captures a significant share of India's booming media consumption market, influencing public discourse and cultural trends.</a:t>
            </a:r>
          </a:p>
          <a:p>
            <a:pPr>
              <a:spcBef>
                <a:spcPts val="600"/>
              </a:spcBef>
              <a:spcAft>
                <a:spcPts val="300"/>
              </a:spcAft>
              <a:defRPr sz="1600" b="1">
                <a:solidFill>
                  <a:srgbClr val="C8DCFF"/>
                </a:solidFill>
                <a:latin typeface="Arial"/>
              </a:defRPr>
            </a:pPr>
            <a:r>
              <a:t>Strategic acquisitions and partnerships have been pivotal; for example, acquiring Hamleys, the iconic British toy retailer, and partnering with international brands like Tiffany &amp; Co. and Burberry for exclusive India distribution. These ventures elevate India's retail landscape and global brand presence.</a:t>
            </a:r>
          </a:p>
          <a:p>
            <a:pPr>
              <a:spcBef>
                <a:spcPts val="600"/>
              </a:spcBef>
              <a:spcAft>
                <a:spcPts val="300"/>
              </a:spcAft>
              <a:defRPr sz="1600" b="1">
                <a:solidFill>
                  <a:srgbClr val="C8DCFF"/>
                </a:solidFill>
                <a:latin typeface="Arial"/>
              </a:defRPr>
            </a:pPr>
            <a:r>
              <a:t>Beyond consumer-facing businesses, RIL maintains its stronghold in traditional sectors like refining and petrochemicals, constantly upgrading facilities and processes to remain globally competitive and environmentally compliant. This foundational strength provides consistent cash flows.</a:t>
            </a:r>
          </a:p>
          <a:p>
            <a:pPr>
              <a:spcBef>
                <a:spcPts val="600"/>
              </a:spcBef>
              <a:spcAft>
                <a:spcPts val="300"/>
              </a:spcAft>
              <a:defRPr sz="1600" b="1">
                <a:solidFill>
                  <a:srgbClr val="C8DCFF"/>
                </a:solidFill>
                <a:latin typeface="Arial"/>
              </a:defRPr>
            </a:pPr>
            <a:r>
              <a:t>The conglomerate's infrastructure division, including port operations and special economic zones, further supports its industrial ventures and contributes to critical national infrastructure development. These investments facilitate trade and manufacturing, bolstering overall economic productivity.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normAutofit/>
          </a:bodyPr>
          <a:lstStyle/>
          <a:p>
            <a:pPr>
              <a:defRPr sz="3600" b="1">
                <a:solidFill>
                  <a:srgbClr val="8AB4FF"/>
                </a:solidFill>
                <a:latin typeface="Arial"/>
              </a:defRPr>
            </a:pPr>
            <a:r>
              <a:t>Innovation and Green Energy Vision</a:t>
            </a:r>
          </a:p>
        </p:txBody>
      </p:sp>
      <p:sp>
        <p:nvSpPr>
          <p:cNvPr id="3" name="TextBox 2"/>
          <p:cNvSpPr txBox="1"/>
          <p:nvPr/>
        </p:nvSpPr>
        <p:spPr>
          <a:xfrm>
            <a:off x="274320" y="1188720"/>
            <a:ext cx="3931920" cy="2651760"/>
          </a:xfrm>
          <a:prstGeom prst="rect">
            <a:avLst/>
          </a:prstGeom>
          <a:noFill/>
        </p:spPr>
        <p:txBody>
          <a:bodyPr wrap="square">
            <a:normAutofit/>
          </a:bodyPr>
          <a:lstStyle/>
          <a:p>
            <a:pPr>
              <a:spcBef>
                <a:spcPts val="600"/>
              </a:spcBef>
              <a:spcAft>
                <a:spcPts val="300"/>
              </a:spcAft>
              <a:defRPr sz="1600" b="1">
                <a:solidFill>
                  <a:srgbClr val="C8DCFF"/>
                </a:solidFill>
                <a:latin typeface="Arial"/>
              </a:defRPr>
            </a:pPr>
            <a:r>
              <a:t>Mukesh Ambani has pledged a monumental investment of $75 billion over 15 years in new energy businesses, signaling a pivot towards making Reliance a global leader in green energy. This ambitious commitment positions India at the forefront of the global energy transition.</a:t>
            </a:r>
          </a:p>
          <a:p>
            <a:pPr>
              <a:spcBef>
                <a:spcPts val="600"/>
              </a:spcBef>
              <a:spcAft>
                <a:spcPts val="300"/>
              </a:spcAft>
              <a:defRPr sz="1600" b="1">
                <a:solidFill>
                  <a:srgbClr val="C8DCFF"/>
                </a:solidFill>
                <a:latin typeface="Arial"/>
              </a:defRPr>
            </a:pPr>
            <a:r>
              <a:t>RIL is establishing four 'Gigafactories' in Jamnagar, Gujarat, to manufacture integrated solar photovoltaic modules, advanced energy storage batteries, electrolyzers for green hydrogen, and fuel cells. This integrated approach aims to create a complete clean energy ecosystem within India.</a:t>
            </a:r>
          </a:p>
          <a:p>
            <a:pPr>
              <a:spcBef>
                <a:spcPts val="600"/>
              </a:spcBef>
              <a:spcAft>
                <a:spcPts val="300"/>
              </a:spcAft>
              <a:defRPr sz="1600" b="1">
                <a:solidFill>
                  <a:srgbClr val="C8DCFF"/>
                </a:solidFill>
                <a:latin typeface="Arial"/>
              </a:defRPr>
            </a:pPr>
            <a:r>
              <a:t>The green hydrogen initiative is particularly significant, aiming to produce green hydrogen at one of the lowest costs globally. This strategic move leverages India's renewable energy potential to create a sustainable fuel source for industries and transportation.</a:t>
            </a:r>
          </a:p>
        </p:txBody>
      </p:sp>
      <p:sp>
        <p:nvSpPr>
          <p:cNvPr id="4" name="TextBox 3"/>
          <p:cNvSpPr txBox="1"/>
          <p:nvPr/>
        </p:nvSpPr>
        <p:spPr>
          <a:xfrm>
            <a:off x="4754880" y="1188720"/>
            <a:ext cx="3931920" cy="2651760"/>
          </a:xfrm>
          <a:prstGeom prst="rect">
            <a:avLst/>
          </a:prstGeom>
          <a:noFill/>
        </p:spPr>
        <p:txBody>
          <a:bodyPr wrap="square">
            <a:normAutofit/>
          </a:bodyPr>
          <a:lstStyle/>
          <a:p>
            <a:pPr>
              <a:spcBef>
                <a:spcPts val="600"/>
              </a:spcBef>
              <a:spcAft>
                <a:spcPts val="300"/>
              </a:spcAft>
              <a:defRPr sz="1600" b="1">
                <a:solidFill>
                  <a:srgbClr val="C8DCFF"/>
                </a:solidFill>
                <a:latin typeface="Arial"/>
              </a:defRPr>
            </a:pPr>
            <a:r>
              <a:t>Reliance Jio's innovation extends beyond mobile data, with ventures into 5G technology, fiber-to-the-home (JioFiber), and enterprise solutions, solidifying its position as a comprehensive digital services provider. These advancements are crucial for India's digital transformation journey.</a:t>
            </a:r>
          </a:p>
          <a:p>
            <a:pPr>
              <a:spcBef>
                <a:spcPts val="600"/>
              </a:spcBef>
              <a:spcAft>
                <a:spcPts val="300"/>
              </a:spcAft>
              <a:defRPr sz="1600" b="1">
                <a:solidFill>
                  <a:srgbClr val="C8DCFF"/>
                </a:solidFill>
                <a:latin typeface="Arial"/>
              </a:defRPr>
            </a:pPr>
            <a:r>
              <a:t>Strategic global collaborations underscore Ambani's vision; partnerships with companies like Meta and Google for Jio Platforms brought significant investment and technological synergy, accelerating India's digital ecosystem growth. These alliances validate RIL's technological leadership.</a:t>
            </a:r>
          </a:p>
          <a:p>
            <a:pPr>
              <a:spcBef>
                <a:spcPts val="600"/>
              </a:spcBef>
              <a:spcAft>
                <a:spcPts val="300"/>
              </a:spcAft>
              <a:defRPr sz="1600" b="1">
                <a:solidFill>
                  <a:srgbClr val="C8DCFF"/>
                </a:solidFill>
                <a:latin typeface="Arial"/>
              </a:defRPr>
            </a:pPr>
            <a:r>
              <a:t>The development of a robust digital infrastructure, including extensive fiber optic networks and data centers, is a cornerstone of Reliance's strategy, essential for supporting the proliferation of digital services and data consumption across the nation. This infrastructure is a backbone for future economic development.</a:t>
            </a:r>
          </a:p>
          <a:p>
            <a:pPr>
              <a:spcBef>
                <a:spcPts val="600"/>
              </a:spcBef>
              <a:spcAft>
                <a:spcPts val="300"/>
              </a:spcAft>
              <a:defRPr sz="1600" b="1">
                <a:solidFill>
                  <a:srgbClr val="C8DCFF"/>
                </a:solidFill>
                <a:latin typeface="Arial"/>
              </a:defRPr>
            </a:pPr>
            <a:r>
              <a:t>RIL's emphasis on research and development (R&amp;D) across its diverse verticals, from materials science in petrochemicals to AI and IoT in digital services, ensures continuous product innovation and competitive advantage. This commitment to R&amp;D drives long-term value creation.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normAutofit/>
          </a:bodyPr>
          <a:lstStyle/>
          <a:p>
            <a:pPr>
              <a:defRPr sz="3600" b="1">
                <a:solidFill>
                  <a:srgbClr val="8AB4FF"/>
                </a:solidFill>
                <a:latin typeface="Arial"/>
              </a:defRPr>
            </a:pPr>
            <a:r>
              <a:t>Economic Impact and Philanthropic Endeavors</a:t>
            </a:r>
          </a:p>
        </p:txBody>
      </p:sp>
      <p:sp>
        <p:nvSpPr>
          <p:cNvPr id="3" name="TextBox 2"/>
          <p:cNvSpPr txBox="1"/>
          <p:nvPr/>
        </p:nvSpPr>
        <p:spPr>
          <a:xfrm>
            <a:off x="274320" y="1188720"/>
            <a:ext cx="3931920" cy="2651760"/>
          </a:xfrm>
          <a:prstGeom prst="rect">
            <a:avLst/>
          </a:prstGeom>
          <a:noFill/>
        </p:spPr>
        <p:txBody>
          <a:bodyPr wrap="square">
            <a:normAutofit/>
          </a:bodyPr>
          <a:lstStyle/>
          <a:p>
            <a:pPr>
              <a:spcBef>
                <a:spcPts val="600"/>
              </a:spcBef>
              <a:spcAft>
                <a:spcPts val="300"/>
              </a:spcAft>
              <a:defRPr sz="1600" b="1">
                <a:solidFill>
                  <a:srgbClr val="C8DCFF"/>
                </a:solidFill>
                <a:latin typeface="Arial"/>
              </a:defRPr>
            </a:pPr>
            <a:r>
              <a:t>Reliance Industries Limited is a colossal contributor to the Indian economy, accounting for approximately 7.5% of India's total merchandise exports and 24% of customs and excise duty collections. This substantial fiscal contribution directly supports national development projects.</a:t>
            </a:r>
          </a:p>
          <a:p>
            <a:pPr>
              <a:spcBef>
                <a:spcPts val="600"/>
              </a:spcBef>
              <a:spcAft>
                <a:spcPts val="300"/>
              </a:spcAft>
              <a:defRPr sz="1600" b="1">
                <a:solidFill>
                  <a:srgbClr val="C8DCFF"/>
                </a:solidFill>
                <a:latin typeface="Arial"/>
              </a:defRPr>
            </a:pPr>
            <a:r>
              <a:t>The Reliance group is one of India's largest employers, directly providing jobs for over 250,000 people and indirectly supporting millions more through its vast ecosystem of suppliers, distributors, and retail partners. This job creation is vital for poverty reduction and economic stability.</a:t>
            </a:r>
          </a:p>
          <a:p>
            <a:pPr>
              <a:spcBef>
                <a:spcPts val="600"/>
              </a:spcBef>
              <a:spcAft>
                <a:spcPts val="300"/>
              </a:spcAft>
              <a:defRPr sz="1600" b="1">
                <a:solidFill>
                  <a:srgbClr val="C8DCFF"/>
                </a:solidFill>
                <a:latin typeface="Arial"/>
              </a:defRPr>
            </a:pPr>
            <a:r>
              <a:t>Through its vast business operations, Reliance has played a pivotal role in "Make in India" initiatives, reducing the nation's reliance on imports across various sectors, from petroleum products to electronics and consumer goods. This localization strengthens India's industrial base.</a:t>
            </a:r>
          </a:p>
        </p:txBody>
      </p:sp>
      <p:sp>
        <p:nvSpPr>
          <p:cNvPr id="4" name="TextBox 3"/>
          <p:cNvSpPr txBox="1"/>
          <p:nvPr/>
        </p:nvSpPr>
        <p:spPr>
          <a:xfrm>
            <a:off x="4754880" y="1188720"/>
            <a:ext cx="3931920" cy="2651760"/>
          </a:xfrm>
          <a:prstGeom prst="rect">
            <a:avLst/>
          </a:prstGeom>
          <a:noFill/>
        </p:spPr>
        <p:txBody>
          <a:bodyPr wrap="square">
            <a:normAutofit/>
          </a:bodyPr>
          <a:lstStyle/>
          <a:p>
            <a:pPr>
              <a:spcBef>
                <a:spcPts val="600"/>
              </a:spcBef>
              <a:spcAft>
                <a:spcPts val="300"/>
              </a:spcAft>
              <a:defRPr sz="1600" b="1">
                <a:solidFill>
                  <a:srgbClr val="C8DCFF"/>
                </a:solidFill>
                <a:latin typeface="Arial"/>
              </a:defRPr>
            </a:pPr>
            <a:r>
              <a:t>Reliance Foundation, led by Nita Ambani, is one of India's largest philanthropic organizations, focusing on rural transformation, health, education, disaster response, and arts, culture &amp; heritage. Its initiatives reach millions, demonstrating a commitment to social development.</a:t>
            </a:r>
          </a:p>
          <a:p>
            <a:pPr>
              <a:spcBef>
                <a:spcPts val="600"/>
              </a:spcBef>
              <a:spcAft>
                <a:spcPts val="300"/>
              </a:spcAft>
              <a:defRPr sz="1600" b="1">
                <a:solidFill>
                  <a:srgbClr val="C8DCFF"/>
                </a:solidFill>
                <a:latin typeface="Arial"/>
              </a:defRPr>
            </a:pPr>
            <a:r>
              <a:t>Significant health initiatives include operating hospitals and providing free or subsidized healthcare services, especially during national crises like the COVID-19 pandemic, where Reliance provided oxygen and medical supplies at scale. These efforts bolster public health infrastructure.</a:t>
            </a:r>
          </a:p>
          <a:p>
            <a:pPr>
              <a:spcBef>
                <a:spcPts val="600"/>
              </a:spcBef>
              <a:spcAft>
                <a:spcPts val="300"/>
              </a:spcAft>
              <a:defRPr sz="1600" b="1">
                <a:solidFill>
                  <a:srgbClr val="C8DCFF"/>
                </a:solidFill>
                <a:latin typeface="Arial"/>
              </a:defRPr>
            </a:pPr>
            <a:r>
              <a:t>The Foundation's educational programs support underprivileged students, establish schools, and provide vocational training, fostering human capital development essential for India's long-term growth. These investments in education unlock future potential.</a:t>
            </a:r>
          </a:p>
          <a:p>
            <a:pPr>
              <a:spcBef>
                <a:spcPts val="600"/>
              </a:spcBef>
              <a:spcAft>
                <a:spcPts val="300"/>
              </a:spcAft>
              <a:defRPr sz="1600" b="1">
                <a:solidFill>
                  <a:srgbClr val="C8DCFF"/>
                </a:solidFill>
                <a:latin typeface="Arial"/>
              </a:defRPr>
            </a:pPr>
            <a:r>
              <a:t>Ambani's businesses, particularly Jio, have driven financial inclusion by making digital payments and banking services accessible to a wider population, leveraging mobile technology to bridge the rural-urban divide. This digital empowerment enhances economic participation for all.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normAutofit/>
          </a:bodyPr>
          <a:lstStyle/>
          <a:p>
            <a:pPr>
              <a:defRPr sz="3600" b="1">
                <a:solidFill>
                  <a:srgbClr val="8AB4FF"/>
                </a:solidFill>
                <a:latin typeface="Arial"/>
              </a:defRPr>
            </a:pPr>
            <a:r>
              <a:t>Key Success Factors and Future Trajectory</a:t>
            </a:r>
          </a:p>
        </p:txBody>
      </p:sp>
      <p:sp>
        <p:nvSpPr>
          <p:cNvPr id="3" name="TextBox 2"/>
          <p:cNvSpPr txBox="1"/>
          <p:nvPr/>
        </p:nvSpPr>
        <p:spPr>
          <a:xfrm>
            <a:off x="274320" y="1188720"/>
            <a:ext cx="3931920" cy="2651760"/>
          </a:xfrm>
          <a:prstGeom prst="rect">
            <a:avLst/>
          </a:prstGeom>
          <a:noFill/>
        </p:spPr>
        <p:txBody>
          <a:bodyPr wrap="square">
            <a:normAutofit/>
          </a:bodyPr>
          <a:lstStyle/>
          <a:p>
            <a:pPr>
              <a:spcBef>
                <a:spcPts val="600"/>
              </a:spcBef>
              <a:spcAft>
                <a:spcPts val="300"/>
              </a:spcAft>
              <a:defRPr sz="1600" b="1">
                <a:solidFill>
                  <a:srgbClr val="C8DCFF"/>
                </a:solidFill>
                <a:latin typeface="Arial"/>
              </a:defRPr>
            </a:pPr>
            <a:r>
              <a:t>Ambani's visionary leadership is characterized by a strong future orientation, identifying and investing early in sunrise sectors like digital services and green energy, often years before their mass adoption. This foresight enables first-mover advantage and market dominance.</a:t>
            </a:r>
          </a:p>
          <a:p>
            <a:pPr>
              <a:spcBef>
                <a:spcPts val="600"/>
              </a:spcBef>
              <a:spcAft>
                <a:spcPts val="300"/>
              </a:spcAft>
              <a:defRPr sz="1600" b="1">
                <a:solidFill>
                  <a:srgbClr val="C8DCFF"/>
                </a:solidFill>
                <a:latin typeface="Arial"/>
              </a:defRPr>
            </a:pPr>
            <a:r>
              <a:t>A relentless focus on scale and execution excellence allows Reliance to build world-class infrastructure and operational capabilities that are hard for competitors to replicate, such as the Jamnagar refinery and Jio's nationwide 4G network. This operational prowess ensures efficiency and reach.</a:t>
            </a:r>
          </a:p>
          <a:p>
            <a:pPr>
              <a:spcBef>
                <a:spcPts val="600"/>
              </a:spcBef>
              <a:spcAft>
                <a:spcPts val="300"/>
              </a:spcAft>
              <a:defRPr sz="1600" b="1">
                <a:solidFill>
                  <a:srgbClr val="C8DCFF"/>
                </a:solidFill>
                <a:latin typeface="Arial"/>
              </a:defRPr>
            </a:pPr>
            <a:r>
              <a:t>Strategic capital allocation, coupled with a willingness to take significant financial risks, has been crucial for funding multi-billion dollar projects like Jio and the new energy initiatives. This bold investment strategy fuels transformative growth.</a:t>
            </a:r>
          </a:p>
        </p:txBody>
      </p:sp>
      <p:sp>
        <p:nvSpPr>
          <p:cNvPr id="4" name="TextBox 3"/>
          <p:cNvSpPr txBox="1"/>
          <p:nvPr/>
        </p:nvSpPr>
        <p:spPr>
          <a:xfrm>
            <a:off x="4754880" y="1188720"/>
            <a:ext cx="3931920" cy="2651760"/>
          </a:xfrm>
          <a:prstGeom prst="rect">
            <a:avLst/>
          </a:prstGeom>
          <a:noFill/>
        </p:spPr>
        <p:txBody>
          <a:bodyPr wrap="square">
            <a:normAutofit/>
          </a:bodyPr>
          <a:lstStyle/>
          <a:p>
            <a:pPr>
              <a:spcBef>
                <a:spcPts val="600"/>
              </a:spcBef>
              <a:spcAft>
                <a:spcPts val="300"/>
              </a:spcAft>
              <a:defRPr sz="1600" b="1">
                <a:solidFill>
                  <a:srgbClr val="C8DCFF"/>
                </a:solidFill>
                <a:latin typeface="Arial"/>
              </a:defRPr>
            </a:pPr>
            <a:r>
              <a:t>The ability to attract top talent and foster a culture of innovation, empowering teams to deliver ambitious projects, ensures that Reliance remains at the forefront of technological and market trends. This talent development is key to sustained innovation.</a:t>
            </a:r>
          </a:p>
          <a:p>
            <a:pPr>
              <a:spcBef>
                <a:spcPts val="600"/>
              </a:spcBef>
              <a:spcAft>
                <a:spcPts val="300"/>
              </a:spcAft>
              <a:defRPr sz="1600" b="1">
                <a:solidFill>
                  <a:srgbClr val="C8DCFF"/>
                </a:solidFill>
                <a:latin typeface="Arial"/>
              </a:defRPr>
            </a:pPr>
            <a:r>
              <a:t>Strong government relations and an astute understanding of India's regulatory landscape have allowed Reliance to navigate complex policy environments and effectively implement large-scale national projects. This engagement facilitates project rollout and market access.</a:t>
            </a:r>
          </a:p>
          <a:p>
            <a:pPr>
              <a:spcBef>
                <a:spcPts val="600"/>
              </a:spcBef>
              <a:spcAft>
                <a:spcPts val="300"/>
              </a:spcAft>
              <a:defRPr sz="1600" b="1">
                <a:solidFill>
                  <a:srgbClr val="C8DCFF"/>
                </a:solidFill>
                <a:latin typeface="Arial"/>
              </a:defRPr>
            </a:pPr>
            <a:r>
              <a:t>Future trajectory involves solidifying its leadership in the green energy sector, aiming for net carbon zero by 2035, and expanding its digital ecosystem with advanced 5G applications, AI, and IoT solutions. These targets position RIL for global relevance in emerging technologies.</a:t>
            </a:r>
          </a:p>
          <a:p>
            <a:pPr>
              <a:spcBef>
                <a:spcPts val="600"/>
              </a:spcBef>
              <a:spcAft>
                <a:spcPts val="300"/>
              </a:spcAft>
              <a:defRPr sz="1600" b="1">
                <a:solidFill>
                  <a:srgbClr val="C8DCFF"/>
                </a:solidFill>
                <a:latin typeface="Arial"/>
              </a:defRPr>
            </a:pPr>
            <a:r>
              <a:t>While facing challenges such as intense competition, regulatory scrutiny, and evolving geopolitical landscapes, Ambani's strategic resilience and continuous innovation are poised to drive Reliance's sustained growth and further consolidate his position as a global business leader. This adaptability ensures long-term viability and influence.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