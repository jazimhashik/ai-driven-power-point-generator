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C3E6"/>
                </a:solidFill>
                <a:latin typeface="Poppins"/>
              </a:defRPr>
            </a:pPr>
            <a:r>
              <a:rPr sz="3600" b="1">
                <a:solidFill>
                  <a:srgbClr val="FFC3E6"/>
                </a:solidFill>
                <a:latin typeface="Poppins"/>
              </a:rPr>
              <a:t>business analytics with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FFC3E6"/>
                </a:solidFill>
                <a:latin typeface="Poppins"/>
              </a:defRPr>
            </a:pPr>
            <a:r>
              <a:rPr sz="3600" b="1">
                <a:solidFill>
                  <a:srgbClr val="FFC3E6"/>
                </a:solidFill>
                <a:latin typeface="Poppins"/>
              </a:rPr>
              <a:t>Modernizing Analytics for Growth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5074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"/>
              </a:defRPr>
            </a:pPr>
            <a:r>
              <a:rPr sz="1600" b="1">
                <a:solidFill>
                  <a:srgbClr val="EBC3F5"/>
                </a:solidFill>
                <a:latin typeface="Poppins"/>
              </a:rPr>
              <a:t>• Traditional Business Intelligence (BI) tools, while foundational, often provide historical snapshots, forcing businesses to react to past events rather than anticipate future on...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"/>
              </a:defRPr>
            </a:pPr>
            <a:r>
              <a:rPr sz="1600" b="1">
                <a:solidFill>
                  <a:srgbClr val="EBC3F5"/>
                </a:solidFill>
                <a:latin typeface="Poppins"/>
              </a:rPr>
              <a:t>• The exponential growth of data - estimated at 2.5 quintillion bytes daily - overwhelms manual processing capabilities, rendering conventional methods inefficient. Companies stru...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"/>
              </a:defRPr>
            </a:pPr>
            <a:r>
              <a:rPr sz="1600" b="1">
                <a:solidFill>
                  <a:srgbClr val="EBC3F5"/>
                </a:solidFill>
                <a:latin typeface="Poppins"/>
              </a:rPr>
              <a:t>• A significant talent gap in data science and machine learning expertise creates a bottleneck for many organizations seeking to leverage advanced analytics. Over 60% of companies...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"/>
              </a:defRPr>
            </a:pPr>
            <a:r>
              <a:rPr sz="1600" b="1">
                <a:solidFill>
                  <a:srgbClr val="EBC3F5"/>
                </a:solidFill>
                <a:latin typeface="Poppins"/>
              </a:rPr>
              <a:t>• Businesses face increasing pressure for real-time insights to maintain agility and competitiveness, especially in fast-moving sectors like e-commerce and finance. AI-driven plat...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"/>
              </a:defRPr>
            </a:pPr>
            <a:r>
              <a:rPr sz="1600" b="1">
                <a:solidFill>
                  <a:srgbClr val="EBC3F5"/>
                </a:solidFill>
                <a:latin typeface="Poppins"/>
              </a:rPr>
              <a:t>• The lack of integrated, end-to-end analytical solutions often results in siloed data and fragmented insights, hindering a unified strategic vision. AI platforms consolidate data...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FFC3E6"/>
                </a:solidFill>
                <a:latin typeface="Poppins"/>
              </a:defRPr>
            </a:pPr>
            <a:r>
              <a:rPr sz="3600" b="1">
                <a:solidFill>
                  <a:srgbClr val="FFC3E6"/>
                </a:solidFill>
                <a:latin typeface="Poppins"/>
              </a:rPr>
              <a:t>Key AI Analytics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5074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"/>
              </a:defRPr>
            </a:pPr>
            <a:r>
              <a:rPr sz="1600" b="1">
                <a:solidFill>
                  <a:srgbClr val="EBC3F5"/>
                </a:solidFill>
                <a:latin typeface="Poppins"/>
              </a:rPr>
              <a:t>• Predictive modeling leverages historical data to forecast future trends, such as customer churn probability, sales volumes, or market shifts. A financial services firm utilized ...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"/>
              </a:defRPr>
            </a:pPr>
            <a:r>
              <a:rPr sz="1600" b="1">
                <a:solidFill>
                  <a:srgbClr val="EBC3F5"/>
                </a:solidFill>
                <a:latin typeface="Poppins"/>
              </a:rPr>
              <a:t>• Prescriptive analytics goes beyond prediction by recommending specific, optimal actions to achieve desired outcomes, like optimizing supply chain routes or personalized marketin...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"/>
              </a:defRPr>
            </a:pPr>
            <a:r>
              <a:rPr sz="1600" b="1">
                <a:solidFill>
                  <a:srgbClr val="EBC3F5"/>
                </a:solidFill>
                <a:latin typeface="Poppins"/>
              </a:rPr>
              <a:t>• Natural Language Processing (NLP) enables analysis of unstructured text data from customer reviews, emails, and social media, extracting sentiment, themes, and critical insights...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"/>
              </a:defRPr>
            </a:pPr>
            <a:r>
              <a:rPr sz="1600" b="1">
                <a:solidFill>
                  <a:srgbClr val="EBC3F5"/>
                </a:solidFill>
                <a:latin typeface="Poppins"/>
              </a:rPr>
              <a:t>• Anomaly detection automatically identifies unusual patterns or outliers that deviate from expected behavior, crucial for fraud detection, cybersecurity, and operational monitori...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"/>
              </a:defRPr>
            </a:pPr>
            <a:r>
              <a:rPr sz="1600" b="1">
                <a:solidFill>
                  <a:srgbClr val="EBC3F5"/>
                </a:solidFill>
                <a:latin typeface="Poppins"/>
              </a:rPr>
              <a:t>• AI-driven customer segmentation refines targeting by identifying subtle behavioral patterns and preferences across diverse customer groups. An e-commerce platform saw a 25% incr...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FFC3E6"/>
                </a:solidFill>
                <a:latin typeface="Poppins"/>
              </a:defRPr>
            </a:pPr>
            <a:r>
              <a:rPr sz="3600" b="1">
                <a:solidFill>
                  <a:srgbClr val="FFC3E6"/>
                </a:solidFill>
                <a:latin typeface="Poppins"/>
              </a:rPr>
              <a:t>Quantifiable Impact &amp; 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229600" cy="5440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"/>
              </a:defRPr>
            </a:pPr>
            <a:r>
              <a:rPr sz="1600" b="1">
                <a:solidFill>
                  <a:srgbClr val="EBC3F5"/>
                </a:solidFill>
                <a:latin typeface="Poppins"/>
              </a:rPr>
              <a:t>• A leading telecommunications provider implemented AI for proactive customer churn prediction, analyzing over 100 behavioral variables daily. This initiative identified 15% of at...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"/>
              </a:defRPr>
            </a:pPr>
            <a:r>
              <a:rPr sz="1600" b="1">
                <a:solidFill>
                  <a:srgbClr val="EBC3F5"/>
                </a:solidFill>
                <a:latin typeface="Poppins"/>
              </a:rPr>
              <a:t>• In manufacturing, a global automotive parts supplier deployed AI-powered predictive maintenance on production lines. By analyzing sensor data, the system predicted equipment fai...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"/>
              </a:defRPr>
            </a:pPr>
            <a:r>
              <a:rPr sz="1600" b="1">
                <a:solidFill>
                  <a:srgbClr val="EBC3F5"/>
                </a:solidFill>
                <a:latin typeface="Poppins"/>
              </a:rPr>
              <a:t>• A major retail bank enhanced its fraud detection capabilities using AI and machine learning to analyze transaction patterns in real-time. This led to a 45% increase in the detec...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"/>
              </a:defRPr>
            </a:pPr>
            <a:r>
              <a:rPr sz="1600" b="1">
                <a:solidFill>
                  <a:srgbClr val="EBC3F5"/>
                </a:solidFill>
                <a:latin typeface="Poppins"/>
              </a:rPr>
              <a:t>• A fast-moving consumer goods (FMCG) company utilized AI to optimize its marketing spend across digital channels. By predicting campaign effectiveness and customer response rates...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"/>
              </a:defRPr>
            </a:pPr>
            <a:r>
              <a:rPr sz="1600" b="1">
                <a:solidFill>
                  <a:srgbClr val="EBC3F5"/>
                </a:solidFill>
                <a:latin typeface="Poppins"/>
              </a:rPr>
              <a:t>• A large e-commerce retailer streamlined its inventory management and logistics through AI-driven demand forecasting. By predicting product demand with 92% accuracy, they reduced...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FFC3E6"/>
                </a:solidFill>
                <a:latin typeface="Poppins"/>
              </a:defRPr>
            </a:pPr>
            <a:r>
              <a:rPr sz="3600" b="1">
                <a:solidFill>
                  <a:srgbClr val="FFC3E6"/>
                </a:solidFill>
                <a:latin typeface="Poppins"/>
              </a:rPr>
              <a:t>Strategic Analytics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229600" cy="5440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"/>
              </a:defRPr>
            </a:pPr>
            <a:r>
              <a:rPr sz="1600" b="1">
                <a:solidFill>
                  <a:srgbClr val="EBC3F5"/>
                </a:solidFill>
                <a:latin typeface="Poppins"/>
              </a:rPr>
              <a:t>• Begin with clearly defined business objectives, focusing on specific pain points or opportunities where AI can deliver measurable value, such as reducing operational costs or en...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"/>
              </a:defRPr>
            </a:pPr>
            <a:r>
              <a:rPr sz="1600" b="1">
                <a:solidFill>
                  <a:srgbClr val="EBC3F5"/>
                </a:solidFill>
                <a:latin typeface="Poppins"/>
              </a:rPr>
              <a:t>• Initiate small-scale pilot projects in high-impact areas like personalized customer service or operational efficiency. This allows for rapid iteration and demonstrating early RO...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"/>
              </a:defRPr>
            </a:pPr>
            <a:r>
              <a:rPr sz="1600" b="1">
                <a:solidFill>
                  <a:srgbClr val="EBC3F5"/>
                </a:solidFill>
                <a:latin typeface="Poppins"/>
              </a:rPr>
              <a:t>• Invest in robust MLOps (Machine Learning Operations) frameworks and scalable cloud infrastructure to support model development, deployment, monitoring, and retraining. This ensu...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"/>
              </a:defRPr>
            </a:pPr>
            <a:r>
              <a:rPr sz="1600" b="1">
                <a:solidFill>
                  <a:srgbClr val="EBC3F5"/>
                </a:solidFill>
                <a:latin typeface="Poppins"/>
              </a:rPr>
              <a:t>• Foster a culture of data literacy and collaboration by providing training for employees across various departments on understanding AI-driven insights and working with new tools...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"/>
              </a:defRPr>
            </a:pPr>
            <a:r>
              <a:rPr sz="1600" b="1">
                <a:solidFill>
                  <a:srgbClr val="EBC3F5"/>
                </a:solidFill>
                <a:latin typeface="Poppins"/>
              </a:rPr>
              <a:t>• Develop comprehensive governance frameworks and ethical AI principles to ensure transparency, fairness, and accountability in AI decision-making processes. Prioritize data priva...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