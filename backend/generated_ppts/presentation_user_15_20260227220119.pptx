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0F5A0"/>
                </a:solidFill>
                <a:latin typeface="Arial, sans-serif"/>
              </a:defRPr>
            </a:pPr>
            <a:r>
              <a:rPr>
                <a:latin typeface="Arial, sans-serif"/>
              </a:rPr>
              <a:t>Micro greens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A0F5A0"/>
                </a:solidFill>
                <a:latin typeface="Arial, sans-serif"/>
              </a:defRPr>
            </a:pPr>
            <a:r>
              <a:rPr>
                <a:latin typeface="Arial, sans-serif"/>
              </a:rPr>
              <a:t>Microgreen Prep: Seed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Always choose high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quality, organic, untreated seeds specifically meant for microgreen cultivati...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Select various seed types like non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GMO broccoli, radish, or basil to cater to diverse consumer tastes and nutrit...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Determine the correct seed density per tray, typically 1.5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5 ounces for a 10x20 inch tray, which is crucial for optimal growth without o...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A0F5A0"/>
                </a:solidFill>
                <a:latin typeface="Arial, sans-serif"/>
              </a:defRPr>
            </a:pPr>
            <a:r>
              <a:rPr>
                <a:latin typeface="Arial, sans-serif"/>
              </a:rPr>
              <a:t>Growing Medium &amp; Trays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Utilize various growing media options, including coco coir, peat moss, or org...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Coco coir is sterile and pH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neutral, preventing many common soil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borne diseases, whereas soil mixes can provide initial nutrients but may intr...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Select appropriate trays: shallow 10x20 inch flats are common, with some havi...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watering techniques.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A0F5A0"/>
                </a:solidFill>
                <a:latin typeface="Arial, sans-serif"/>
              </a:defRPr>
            </a:pPr>
            <a:r>
              <a:rPr>
                <a:latin typeface="Arial, sans-serif"/>
              </a:rPr>
              <a:t>Seeding &amp; Watering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Distribute seeds evenly across the prepared medium surface, either by hand, u...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For most microgreens, covering the seeds is unnecessary; they germinate well 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Immediately after seeding, use a fine mist sprayer or bottom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watering method to gently moisten the seeds and medium without dislodging the...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Implement a blackout period of 2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days post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A0F5A0"/>
                </a:solidFill>
                <a:latin typeface="Arial, sans-serif"/>
              </a:defRPr>
            </a:pPr>
            <a:r>
              <a:rPr>
                <a:latin typeface="Arial, sans-serif"/>
              </a:rPr>
              <a:t>Lighting &amp; Environmental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Provide adequate lighting using LED grow lights or natural sunlight for 12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hours daily, positioning them 6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inches above the tray for optimal photosynthesis.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Ensure the light spectrum includes sufficient blue light for vegetative growt...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Maintain a consistent ambient temperature range, ideally between 65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°F (18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A0F5A0"/>
                </a:solidFill>
                <a:latin typeface="Arial, sans-serif"/>
              </a:defRPr>
            </a:pPr>
            <a:r>
              <a:rPr>
                <a:latin typeface="Arial, sans-serif"/>
              </a:rPr>
              <a:t>Harvesting &amp; Post-Harvest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Harvest microgreens at their peak maturity, typically when the first true lea...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days after seeding, depending on the specific variety.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Use a sharp, clean knife or scissors to cut the microgreens just above the so...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Gently rinse the harvested microgreens in cool water if necessary to remove a...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Package dried microgreens immediately in breathable clamshell containers or p...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Store packaged microgreens in refrigeration between 34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A0F5A0"/>
                </a:solidFill>
                <a:latin typeface="Arial, sans-serif"/>
              </a:defRPr>
            </a:pPr>
            <a:r>
              <a:rPr>
                <a:latin typeface="Arial, sans-serif"/>
              </a:rPr>
              <a:t>Microgreen Marketing Trends: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Consumer demand for microgreens is rapidly increasing, driven by growing heal...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dense, locally sourced produce options.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The global microgreens market is projected to reach approximately $2.5 billio...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Key demographics include health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conscious individuals, urban dwellers seeking fresh produce, and culinary ent...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Sales channels span diverse platforms such as local farmers' markets, direct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A0F5A0"/>
                </a:solidFill>
                <a:latin typeface="Arial, sans-serif"/>
              </a:defRPr>
            </a:pPr>
            <a:r>
              <a:rPr>
                <a:latin typeface="Arial, sans-serif"/>
              </a:rPr>
              <a:t>Marketing Strategies: Direct to 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Establish a strong presence at local farmers' markets, offering fresh, visual...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Implement a CSA (Community Supported Agriculture) program, providing subscrib...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Set up roadside farm stands or participate in local pop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up markets to offer convenient access to fresh produce for community members,...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Launch an online store with local delivery or pickup options, leveraging 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commerce platforms to reach a wider audience and streamline order fulfillment...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A0F5A0"/>
                </a:solidFill>
                <a:latin typeface="Arial, sans-serif"/>
              </a:defRPr>
            </a:pPr>
            <a:r>
              <a:rPr>
                <a:latin typeface="Arial, sans-serif"/>
              </a:rPr>
              <a:t>Marketing Strategies: B2B &amp; Wholesale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Forge partnerships with high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end restaurants and local eateries, providing chefs with unique, fresh garnis...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Approach local grocery stores and specialty food markets to stock your microg...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Collaborate with catering companies for events, weddings, and corporate funct...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Engage with food service distributors to reach a broader network of instituti...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Offer contract growing services for specific clients or chefs, cultivating be...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3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5ABE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A0F5A0"/>
                </a:solidFill>
                <a:latin typeface="Arial, sans-serif"/>
              </a:defRPr>
            </a:pPr>
            <a:r>
              <a:rPr>
                <a:latin typeface="Arial, sans-serif"/>
              </a:rPr>
              <a:t>Future of Microgreens &amp;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Vertical farming integration is rapidly expanding, allowing for urban microgr...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round local production.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Advanced hydroponic and aeroponic systems are becoming more prevalent, promot...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3931920" cy="2331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Innovation in new varieties and flavor blends continues, with growers experim...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Focus on sustainable practices, including reducing energy consumption, recycl...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 b="1">
                <a:solidFill>
                  <a:srgbClr val="D2FFC8"/>
                </a:solidFill>
                <a:latin typeface="Arial, sans-serif"/>
              </a:defRPr>
            </a:pPr>
            <a:r>
              <a:rPr>
                <a:latin typeface="Arial, sans-serif"/>
              </a:rPr>
              <a:t>conscious consumers and businesses.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