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TextBox 1"/>
          <p:cNvSpPr txBox="1"/>
          <p:nvPr/>
        </p:nvSpPr>
        <p:spPr>
          <a:xfrm>
            <a:off x="457200" y="2286000"/>
            <a:ext cx="8229600" cy="1371600"/>
          </a:xfrm>
          <a:prstGeom prst="rect">
            <a:avLst/>
          </a:prstGeom>
          <a:noFill/>
        </p:spPr>
        <p:txBody>
          <a:bodyPr wrap="square">
            <a:spAutoFit/>
          </a:bodyPr>
          <a:lstStyle/>
          <a:p>
            <a:pPr algn="ctr">
              <a:defRPr sz="3600" b="1">
                <a:solidFill>
                  <a:srgbClr val="8AB4FF"/>
                </a:solidFill>
                <a:latin typeface="Arial"/>
              </a:defRPr>
            </a:pPr>
            <a:r>
              <a:t>teaching as a profession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normAutofit/>
          </a:bodyPr>
          <a:lstStyle/>
          <a:p>
            <a:pPr>
              <a:defRPr sz="3600" b="1">
                <a:solidFill>
                  <a:srgbClr val="8AB4FF"/>
                </a:solidFill>
                <a:latin typeface="Arial"/>
              </a:defRPr>
            </a:pPr>
            <a:r>
              <a:t>Diverse Specializations and Career Pathways</a:t>
            </a:r>
          </a:p>
        </p:txBody>
      </p:sp>
      <p:sp>
        <p:nvSpPr>
          <p:cNvPr id="3" name="TextBox 2"/>
          <p:cNvSpPr txBox="1"/>
          <p:nvPr/>
        </p:nvSpPr>
        <p:spPr>
          <a:xfrm>
            <a:off x="274320" y="1188720"/>
            <a:ext cx="3931920" cy="2651760"/>
          </a:xfrm>
          <a:prstGeom prst="rect">
            <a:avLst/>
          </a:prstGeom>
          <a:noFill/>
        </p:spPr>
        <p:txBody>
          <a:bodyPr wrap="square">
            <a:normAutofit/>
          </a:bodyPr>
          <a:lstStyle/>
          <a:p>
            <a:pPr>
              <a:spcBef>
                <a:spcPts val="600"/>
              </a:spcBef>
              <a:spcAft>
                <a:spcPts val="300"/>
              </a:spcAft>
              <a:defRPr sz="1600" b="1">
                <a:solidFill>
                  <a:srgbClr val="C8DCFF"/>
                </a:solidFill>
                <a:latin typeface="Arial"/>
              </a:defRPr>
            </a:pPr>
            <a:r>
              <a:t>The teaching profession offers extensive specialization from early childhood education (ECE) through higher education, including niche areas like special education, STEM, and gifted programs, reflecting a broad demand spectrum for tailored instructional expertise. This allows for deep subject matter focus.</a:t>
            </a:r>
          </a:p>
          <a:p>
            <a:pPr>
              <a:spcBef>
                <a:spcPts val="600"/>
              </a:spcBef>
              <a:spcAft>
                <a:spcPts val="300"/>
              </a:spcAft>
              <a:defRPr sz="1600" b="1">
                <a:solidFill>
                  <a:srgbClr val="C8DCFF"/>
                </a:solidFill>
                <a:latin typeface="Arial"/>
              </a:defRPr>
            </a:pPr>
            <a:r>
              <a:t>Beyond direct classroom instruction, educators can transition into vital roles such as curriculum development specialists, instructional designers, educational technology integrators, and assessment coordinators, leveraging their pedagogical knowledge in systemic improvement. This expands professional influence.</a:t>
            </a:r>
          </a:p>
          <a:p>
            <a:pPr>
              <a:spcBef>
                <a:spcPts val="600"/>
              </a:spcBef>
              <a:spcAft>
                <a:spcPts val="300"/>
              </a:spcAft>
              <a:defRPr sz="1600" b="1">
                <a:solidFill>
                  <a:srgbClr val="C8DCFF"/>
                </a:solidFill>
                <a:latin typeface="Arial"/>
              </a:defRPr>
            </a:pPr>
            <a:r>
              <a:t>Leadership opportunities abound within educational settings, encompassing department head, assistant principal, principal, and superintendent roles, requiring strategic management, staff development, and community engagement skills to drive institutional success. This creates direct impact on school culture.</a:t>
            </a:r>
          </a:p>
        </p:txBody>
      </p:sp>
      <p:sp>
        <p:nvSpPr>
          <p:cNvPr id="4" name="TextBox 3"/>
          <p:cNvSpPr txBox="1"/>
          <p:nvPr/>
        </p:nvSpPr>
        <p:spPr>
          <a:xfrm>
            <a:off x="4754880" y="1188720"/>
            <a:ext cx="3931920" cy="2651760"/>
          </a:xfrm>
          <a:prstGeom prst="rect">
            <a:avLst/>
          </a:prstGeom>
          <a:noFill/>
        </p:spPr>
        <p:txBody>
          <a:bodyPr wrap="square">
            <a:normAutofit/>
          </a:bodyPr>
          <a:lstStyle/>
          <a:p>
            <a:pPr>
              <a:spcBef>
                <a:spcPts val="600"/>
              </a:spcBef>
              <a:spcAft>
                <a:spcPts val="300"/>
              </a:spcAft>
              <a:defRPr sz="1600" b="1">
                <a:solidFill>
                  <a:srgbClr val="C8DCFF"/>
                </a:solidFill>
                <a:latin typeface="Arial"/>
              </a:defRPr>
            </a:pPr>
            <a:r>
              <a:t>Opportunities exist in educational policy analysis and advocacy, where teachers leverage their frontline experience to inform legislative decisions and resource allocation, ensuring policies are practical and effective, impacting millions of students nationally. This shapes the broader educational landscape.</a:t>
            </a:r>
          </a:p>
          <a:p>
            <a:pPr>
              <a:spcBef>
                <a:spcPts val="600"/>
              </a:spcBef>
              <a:spcAft>
                <a:spcPts val="300"/>
              </a:spcAft>
              <a:defRPr sz="1600" b="1">
                <a:solidFill>
                  <a:srgbClr val="C8DCFF"/>
                </a:solidFill>
                <a:latin typeface="Arial"/>
              </a:defRPr>
            </a:pPr>
            <a:r>
              <a:t>Teachers can specialize in professional development and mentorship, training new educators, leading workshops on best practices, and fostering a culture of continuous learning within their institutions, enhancing collective pedagogical efficacy. This scales expertise.</a:t>
            </a:r>
          </a:p>
          <a:p>
            <a:pPr>
              <a:spcBef>
                <a:spcPts val="600"/>
              </a:spcBef>
              <a:spcAft>
                <a:spcPts val="300"/>
              </a:spcAft>
              <a:defRPr sz="1600" b="1">
                <a:solidFill>
                  <a:srgbClr val="C8DCFF"/>
                </a:solidFill>
                <a:latin typeface="Arial"/>
              </a:defRPr>
            </a:pPr>
            <a:r>
              <a:t>The rise of online learning and blended models has created new avenues for digital content creation, virtual classroom management, and e-learning platform development, requiring educators to adapt and innovate teaching methodologies for remote engagement. This addresses evolving learning modalities.</a:t>
            </a:r>
          </a:p>
          <a:p>
            <a:pPr>
              <a:spcBef>
                <a:spcPts val="600"/>
              </a:spcBef>
              <a:spcAft>
                <a:spcPts val="300"/>
              </a:spcAft>
              <a:defRPr sz="1600" b="1">
                <a:solidFill>
                  <a:srgbClr val="C8DCFF"/>
                </a:solidFill>
                <a:latin typeface="Arial"/>
              </a:defRPr>
            </a:pPr>
            <a:r>
              <a:t>International teaching presents a unique career pathway, allowing educators to experience diverse cultures, teach in various educational systems (e.g., IB, American, British curricula abroad), and contribute to global educational standards while fostering cross-cultural understanding. This broadens global perspective.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normAutofit/>
          </a:bodyPr>
          <a:lstStyle/>
          <a:p>
            <a:pPr>
              <a:defRPr sz="3600" b="1">
                <a:solidFill>
                  <a:srgbClr val="8AB4FF"/>
                </a:solidFill>
                <a:latin typeface="Arial"/>
              </a:defRPr>
            </a:pPr>
            <a:r>
              <a:t>Essential Competencies for Modern Educators</a:t>
            </a:r>
          </a:p>
        </p:txBody>
      </p:sp>
      <p:sp>
        <p:nvSpPr>
          <p:cNvPr id="3" name="TextBox 2"/>
          <p:cNvSpPr txBox="1"/>
          <p:nvPr/>
        </p:nvSpPr>
        <p:spPr>
          <a:xfrm>
            <a:off x="274320" y="1188720"/>
            <a:ext cx="3931920" cy="2651760"/>
          </a:xfrm>
          <a:prstGeom prst="rect">
            <a:avLst/>
          </a:prstGeom>
          <a:noFill/>
        </p:spPr>
        <p:txBody>
          <a:bodyPr wrap="square">
            <a:normAutofit/>
          </a:bodyPr>
          <a:lstStyle/>
          <a:p>
            <a:pPr>
              <a:spcBef>
                <a:spcPts val="600"/>
              </a:spcBef>
              <a:spcAft>
                <a:spcPts val="300"/>
              </a:spcAft>
              <a:defRPr sz="1600" b="1">
                <a:solidFill>
                  <a:srgbClr val="C8DCFF"/>
                </a:solidFill>
                <a:latin typeface="Arial"/>
              </a:defRPr>
            </a:pPr>
            <a:r>
              <a:t>Mastery of pedagogical strategies is paramount, encompassing differentiated instruction, formative assessment, and project-based learning to meet diverse student needs and maximize engagement, leading to a 20-30% increase in student achievement as validated by educational research. This ensures effective learning for all.</a:t>
            </a:r>
          </a:p>
          <a:p>
            <a:pPr>
              <a:spcBef>
                <a:spcPts val="600"/>
              </a:spcBef>
              <a:spcAft>
                <a:spcPts val="300"/>
              </a:spcAft>
              <a:defRPr sz="1600" b="1">
                <a:solidFill>
                  <a:srgbClr val="C8DCFF"/>
                </a:solidFill>
                <a:latin typeface="Arial"/>
              </a:defRPr>
            </a:pPr>
            <a:r>
              <a:t>Technological fluency is critical, involving adept integration of learning management systems (LMS), digital collaboration tools, and interactive educational software to enhance lesson delivery and student interaction, crucial for preparing students for a digitally-driven world. This empowers digital literacy.</a:t>
            </a:r>
          </a:p>
          <a:p>
            <a:pPr>
              <a:spcBef>
                <a:spcPts val="600"/>
              </a:spcBef>
              <a:spcAft>
                <a:spcPts val="300"/>
              </a:spcAft>
              <a:defRPr sz="1600" b="1">
                <a:solidFill>
                  <a:srgbClr val="C8DCFF"/>
                </a:solidFill>
                <a:latin typeface="Arial"/>
              </a:defRPr>
            </a:pPr>
            <a:r>
              <a:t>Strong communication skills, both verbal and written, are essential for effective interaction with students, parents, colleagues, and administrators, building supportive learning communities and ensuring transparent stakeholder engagement. This fosters collaborative environments.</a:t>
            </a:r>
          </a:p>
        </p:txBody>
      </p:sp>
      <p:sp>
        <p:nvSpPr>
          <p:cNvPr id="4" name="TextBox 3"/>
          <p:cNvSpPr txBox="1"/>
          <p:nvPr/>
        </p:nvSpPr>
        <p:spPr>
          <a:xfrm>
            <a:off x="4754880" y="1188720"/>
            <a:ext cx="3931920" cy="2651760"/>
          </a:xfrm>
          <a:prstGeom prst="rect">
            <a:avLst/>
          </a:prstGeom>
          <a:noFill/>
        </p:spPr>
        <p:txBody>
          <a:bodyPr wrap="square">
            <a:normAutofit/>
          </a:bodyPr>
          <a:lstStyle/>
          <a:p>
            <a:pPr>
              <a:spcBef>
                <a:spcPts val="600"/>
              </a:spcBef>
              <a:spcAft>
                <a:spcPts val="300"/>
              </a:spcAft>
              <a:defRPr sz="1600" b="1">
                <a:solidFill>
                  <a:srgbClr val="C8DCFF"/>
                </a:solidFill>
                <a:latin typeface="Arial"/>
              </a:defRPr>
            </a:pPr>
            <a:r>
              <a:t>Emotional intelligence (EQ) allows educators to understand and manage their own emotions while empathizing with students and colleagues, crucial for classroom management, conflict resolution, and fostering a positive school climate, reducing behavioral issues by up to 15%. This creates a supportive atmosphere.</a:t>
            </a:r>
          </a:p>
          <a:p>
            <a:pPr>
              <a:spcBef>
                <a:spcPts val="600"/>
              </a:spcBef>
              <a:spcAft>
                <a:spcPts val="300"/>
              </a:spcAft>
              <a:defRPr sz="1600" b="1">
                <a:solidFill>
                  <a:srgbClr val="C8DCFF"/>
                </a:solidFill>
                <a:latin typeface="Arial"/>
              </a:defRPr>
            </a:pPr>
            <a:r>
              <a:t>Data literacy is increasingly vital for analyzing student performance data, identifying trends, and making informed instructional decisions to personalize learning pathways and target interventions effectively, thereby driving continuous improvement in student outcomes. This enables evidence-based practice.</a:t>
            </a:r>
          </a:p>
          <a:p>
            <a:pPr>
              <a:spcBef>
                <a:spcPts val="600"/>
              </a:spcBef>
              <a:spcAft>
                <a:spcPts val="300"/>
              </a:spcAft>
              <a:defRPr sz="1600" b="1">
                <a:solidFill>
                  <a:srgbClr val="C8DCFF"/>
                </a:solidFill>
                <a:latin typeface="Arial"/>
              </a:defRPr>
            </a:pPr>
            <a:r>
              <a:t>Adaptability and resilience are crucial in a rapidly changing educational landscape, requiring educators to embrace new curricula, technologies, and challenges with flexibility, modeling lifelong learning for their students and maintaining professional efficacy. This ensures sustained effectiveness.</a:t>
            </a:r>
          </a:p>
          <a:p>
            <a:pPr>
              <a:spcBef>
                <a:spcPts val="600"/>
              </a:spcBef>
              <a:spcAft>
                <a:spcPts val="300"/>
              </a:spcAft>
              <a:defRPr sz="1600" b="1">
                <a:solidFill>
                  <a:srgbClr val="C8DCFF"/>
                </a:solidFill>
                <a:latin typeface="Arial"/>
              </a:defRPr>
            </a:pPr>
            <a:r>
              <a:t>Collaboration skills enable educators to work effectively in professional learning communities (PLCs), share best practices, co-plan lessons, and engage in interdisciplinary projects, significantly enhancing instructional quality and fostering a culture of collective growth. This leverages collective intelligence.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normAutofit/>
          </a:bodyPr>
          <a:lstStyle/>
          <a:p>
            <a:pPr>
              <a:defRPr sz="3600" b="1">
                <a:solidFill>
                  <a:srgbClr val="8AB4FF"/>
                </a:solidFill>
                <a:latin typeface="Arial"/>
              </a:defRPr>
            </a:pPr>
            <a:r>
              <a:t>Addressing Challenges and Driving Opportunities</a:t>
            </a:r>
          </a:p>
        </p:txBody>
      </p:sp>
      <p:sp>
        <p:nvSpPr>
          <p:cNvPr id="3" name="TextBox 2"/>
          <p:cNvSpPr txBox="1"/>
          <p:nvPr/>
        </p:nvSpPr>
        <p:spPr>
          <a:xfrm>
            <a:off x="274320" y="1188720"/>
            <a:ext cx="3931920" cy="2651760"/>
          </a:xfrm>
          <a:prstGeom prst="rect">
            <a:avLst/>
          </a:prstGeom>
          <a:noFill/>
        </p:spPr>
        <p:txBody>
          <a:bodyPr wrap="square">
            <a:normAutofit/>
          </a:bodyPr>
          <a:lstStyle/>
          <a:p>
            <a:pPr>
              <a:spcBef>
                <a:spcPts val="600"/>
              </a:spcBef>
              <a:spcAft>
                <a:spcPts val="300"/>
              </a:spcAft>
              <a:defRPr sz="1600" b="1">
                <a:solidFill>
                  <a:srgbClr val="C8DCFF"/>
                </a:solidFill>
                <a:latin typeface="Arial"/>
              </a:defRPr>
            </a:pPr>
            <a:r>
              <a:t>Teacher retention remains a critical challenge, with nearly 17% of new teachers leaving within their first five years; addressing this requires comprehensive mentorship programs, competitive compensation packages, and supportive administrative leadership to foster a sustainable workforce. This safeguards educational continuity.</a:t>
            </a:r>
          </a:p>
          <a:p>
            <a:pPr>
              <a:spcBef>
                <a:spcPts val="600"/>
              </a:spcBef>
              <a:spcAft>
                <a:spcPts val="300"/>
              </a:spcAft>
              <a:defRPr sz="1600" b="1">
                <a:solidFill>
                  <a:srgbClr val="C8DCFF"/>
                </a:solidFill>
                <a:latin typeface="Arial"/>
              </a:defRPr>
            </a:pPr>
            <a:r>
              <a:t>Professional development needs to evolve from generic workshops to personalized, ongoing learning opportunities, utilizing micro-credentialing and action research to enhance specific skills like data analytics or culturally responsive pedagogy, directly impacting instructional efficacy. This ensures continuous skill enhancement.</a:t>
            </a:r>
          </a:p>
          <a:p>
            <a:pPr>
              <a:spcBef>
                <a:spcPts val="600"/>
              </a:spcBef>
              <a:spcAft>
                <a:spcPts val="300"/>
              </a:spcAft>
              <a:defRPr sz="1600" b="1">
                <a:solidFill>
                  <a:srgbClr val="C8DCFF"/>
                </a:solidFill>
                <a:latin typeface="Arial"/>
              </a:defRPr>
            </a:pPr>
            <a:r>
              <a:t>Policy advocacy by educators is crucial to secure adequate funding for schools, reduce burdensome administrative tasks, and influence curriculum reforms that align with actual student needs and global competitiveness, driving systemic improvements. This shapes supportive policy environments.</a:t>
            </a:r>
          </a:p>
        </p:txBody>
      </p:sp>
      <p:sp>
        <p:nvSpPr>
          <p:cNvPr id="4" name="TextBox 3"/>
          <p:cNvSpPr txBox="1"/>
          <p:nvPr/>
        </p:nvSpPr>
        <p:spPr>
          <a:xfrm>
            <a:off x="4754880" y="1188720"/>
            <a:ext cx="3931920" cy="2651760"/>
          </a:xfrm>
          <a:prstGeom prst="rect">
            <a:avLst/>
          </a:prstGeom>
          <a:noFill/>
        </p:spPr>
        <p:txBody>
          <a:bodyPr wrap="square">
            <a:normAutofit/>
          </a:bodyPr>
          <a:lstStyle/>
          <a:p>
            <a:pPr>
              <a:spcBef>
                <a:spcPts val="600"/>
              </a:spcBef>
              <a:spcAft>
                <a:spcPts val="300"/>
              </a:spcAft>
              <a:defRPr sz="1600" b="1">
                <a:solidFill>
                  <a:srgbClr val="C8DCFF"/>
                </a:solidFill>
                <a:latin typeface="Arial"/>
              </a:defRPr>
            </a:pPr>
            <a:r>
              <a:t>Leveraging educational technology presents an immense opportunity to personalize learning, automate administrative tasks (e.g., grading certain assignments), and provide richer multimedia content, but requires sustained investment in infrastructure and teacher training. This modernizes teaching practices.</a:t>
            </a:r>
          </a:p>
          <a:p>
            <a:pPr>
              <a:spcBef>
                <a:spcPts val="600"/>
              </a:spcBef>
              <a:spcAft>
                <a:spcPts val="300"/>
              </a:spcAft>
              <a:defRPr sz="1600" b="1">
                <a:solidFill>
                  <a:srgbClr val="C8DCFF"/>
                </a:solidFill>
                <a:latin typeface="Arial"/>
              </a:defRPr>
            </a:pPr>
            <a:r>
              <a:t>Addressing teacher workload and burnout through strategic resource allocation, implementation of efficient workflows, and promoting a healthy work-life balance is vital for maintaining educator well-being and ensuring high-quality instruction across all grades. This protects human capital.</a:t>
            </a:r>
          </a:p>
          <a:p>
            <a:pPr>
              <a:spcBef>
                <a:spcPts val="600"/>
              </a:spcBef>
              <a:spcAft>
                <a:spcPts val="300"/>
              </a:spcAft>
              <a:defRPr sz="1600" b="1">
                <a:solidFill>
                  <a:srgbClr val="C8DCFF"/>
                </a:solidFill>
                <a:latin typeface="Arial"/>
              </a:defRPr>
            </a:pPr>
            <a:r>
              <a:t>Fostering greater collaboration between schools and industry can bridge the skills gap, providing students with real-world experiences and preparing them for future careers, exemplified by STEM internships or vocational training partnerships increasing post-graduation employment rates by 25%. This enhances career readiness.</a:t>
            </a:r>
          </a:p>
          <a:p>
            <a:pPr>
              <a:spcBef>
                <a:spcPts val="600"/>
              </a:spcBef>
              <a:spcAft>
                <a:spcPts val="300"/>
              </a:spcAft>
              <a:defRPr sz="1600" b="1">
                <a:solidFill>
                  <a:srgbClr val="C8DCFF"/>
                </a:solidFill>
                <a:latin typeface="Arial"/>
              </a:defRPr>
            </a:pPr>
            <a:r>
              <a:t>Cultivating diverse teaching staff is an opportunity to better reflect student demographics and provide positive role models, improving student engagement and academic outcomes, especially for minority students, and enriching classroom perspectives. This promotes equity and representation.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normAutofit/>
          </a:bodyPr>
          <a:lstStyle/>
          <a:p>
            <a:pPr>
              <a:defRPr sz="3600" b="1">
                <a:solidFill>
                  <a:srgbClr val="8AB4FF"/>
                </a:solidFill>
                <a:latin typeface="Arial"/>
              </a:defRPr>
            </a:pPr>
            <a:r>
              <a:t>The Future Landscape of Educational Leadership</a:t>
            </a:r>
          </a:p>
        </p:txBody>
      </p:sp>
      <p:sp>
        <p:nvSpPr>
          <p:cNvPr id="3" name="TextBox 2"/>
          <p:cNvSpPr txBox="1"/>
          <p:nvPr/>
        </p:nvSpPr>
        <p:spPr>
          <a:xfrm>
            <a:off x="274320" y="1188720"/>
            <a:ext cx="3931920" cy="2651760"/>
          </a:xfrm>
          <a:prstGeom prst="rect">
            <a:avLst/>
          </a:prstGeom>
          <a:noFill/>
        </p:spPr>
        <p:txBody>
          <a:bodyPr wrap="square">
            <a:normAutofit/>
          </a:bodyPr>
          <a:lstStyle/>
          <a:p>
            <a:pPr>
              <a:spcBef>
                <a:spcPts val="600"/>
              </a:spcBef>
              <a:spcAft>
                <a:spcPts val="300"/>
              </a:spcAft>
              <a:defRPr sz="1600" b="1">
                <a:solidFill>
                  <a:srgbClr val="C8DCFF"/>
                </a:solidFill>
                <a:latin typeface="Arial"/>
              </a:defRPr>
            </a:pPr>
            <a:r>
              <a:t>Educational leaders must champion digital transformation, guiding schools in adopting advanced learning technologies, securing infrastructure, and training staff to effectively integrate AI tools and virtual reality into curricula, preparing students for an AI-driven economy. This ensures future-readiness.</a:t>
            </a:r>
          </a:p>
          <a:p>
            <a:pPr>
              <a:spcBef>
                <a:spcPts val="600"/>
              </a:spcBef>
              <a:spcAft>
                <a:spcPts val="300"/>
              </a:spcAft>
              <a:defRPr sz="1600" b="1">
                <a:solidFill>
                  <a:srgbClr val="C8DCFF"/>
                </a:solidFill>
                <a:latin typeface="Arial"/>
              </a:defRPr>
            </a:pPr>
            <a:r>
              <a:t>Fostering a culture of continuous innovation and entrepreneurial thinking within schools is paramount, encouraging pilot programs for new pedagogies, supporting teacher-led research, and developing students' problem-solving mindsets for an unpredictable future. This cultivates adaptability.</a:t>
            </a:r>
          </a:p>
          <a:p>
            <a:pPr>
              <a:spcBef>
                <a:spcPts val="600"/>
              </a:spcBef>
              <a:spcAft>
                <a:spcPts val="300"/>
              </a:spcAft>
              <a:defRPr sz="1600" b="1">
                <a:solidFill>
                  <a:srgbClr val="C8DCFF"/>
                </a:solidFill>
                <a:latin typeface="Arial"/>
              </a:defRPr>
            </a:pPr>
            <a:r>
              <a:t>Future leaders will prioritize creating highly personalized learning environments, leveraging predictive analytics and adaptive learning platforms to tailor instruction to individual student pace, style, and interests, optimizing academic potential and engagement. This customizes the learning journey.</a:t>
            </a:r>
          </a:p>
        </p:txBody>
      </p:sp>
      <p:sp>
        <p:nvSpPr>
          <p:cNvPr id="4" name="TextBox 3"/>
          <p:cNvSpPr txBox="1"/>
          <p:nvPr/>
        </p:nvSpPr>
        <p:spPr>
          <a:xfrm>
            <a:off x="4754880" y="1188720"/>
            <a:ext cx="3931920" cy="2651760"/>
          </a:xfrm>
          <a:prstGeom prst="rect">
            <a:avLst/>
          </a:prstGeom>
          <a:noFill/>
        </p:spPr>
        <p:txBody>
          <a:bodyPr wrap="square">
            <a:normAutofit/>
          </a:bodyPr>
          <a:lstStyle/>
          <a:p>
            <a:pPr>
              <a:spcBef>
                <a:spcPts val="600"/>
              </a:spcBef>
              <a:spcAft>
                <a:spcPts val="300"/>
              </a:spcAft>
              <a:defRPr sz="1600" b="1">
                <a:solidFill>
                  <a:srgbClr val="C8DCFF"/>
                </a:solidFill>
                <a:latin typeface="Arial"/>
              </a:defRPr>
            </a:pPr>
            <a:r>
              <a:t>Building robust community partnerships and engaging diverse stakeholders will be critical for mobilizing resources, gaining support for educational initiatives, and aligning school objectives with broader community development goals, creating a symbiotic ecosystem. This strengthens community ties.</a:t>
            </a:r>
          </a:p>
          <a:p>
            <a:pPr>
              <a:spcBef>
                <a:spcPts val="600"/>
              </a:spcBef>
              <a:spcAft>
                <a:spcPts val="300"/>
              </a:spcAft>
              <a:defRPr sz="1600" b="1">
                <a:solidFill>
                  <a:srgbClr val="C8DCFF"/>
                </a:solidFill>
                <a:latin typeface="Arial"/>
              </a:defRPr>
            </a:pPr>
            <a:r>
              <a:t>Global competency and cultural responsiveness will be non-negotiable leadership traits, driving curriculum internationalization, facilitating student and teacher exchange programs, and preparing students to thrive in an interconnected global society. This fosters global citizenship.</a:t>
            </a:r>
          </a:p>
          <a:p>
            <a:pPr>
              <a:spcBef>
                <a:spcPts val="600"/>
              </a:spcBef>
              <a:spcAft>
                <a:spcPts val="300"/>
              </a:spcAft>
              <a:defRPr sz="1600" b="1">
                <a:solidFill>
                  <a:srgbClr val="C8DCFF"/>
                </a:solidFill>
                <a:latin typeface="Arial"/>
              </a:defRPr>
            </a:pPr>
            <a:r>
              <a:t>Emphasizing sustainable practices and environmental literacy within the school system, from facility management to curriculum content, prepares students to become responsible stewards of the planet and engages them in addressing pressing global challenges. This instills environmental stewardship.</a:t>
            </a:r>
          </a:p>
          <a:p>
            <a:pPr>
              <a:spcBef>
                <a:spcPts val="600"/>
              </a:spcBef>
              <a:spcAft>
                <a:spcPts val="300"/>
              </a:spcAft>
              <a:defRPr sz="1600" b="1">
                <a:solidFill>
                  <a:srgbClr val="C8DCFF"/>
                </a:solidFill>
                <a:latin typeface="Arial"/>
              </a:defRPr>
            </a:pPr>
            <a:r>
              <a:t>Strategic human capital development will define future educational leadership, focusing on attracting top talent, providing bespoke career pathways for educators, and establishing robust succession planning to ensure leadership continuity and institutional resilience. This secures future leadership.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