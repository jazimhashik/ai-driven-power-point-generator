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3600" b="1">
                <a:solidFill>
                  <a:srgbClr val="8AB4FF"/>
                </a:solidFill>
                <a:latin typeface="Arial"/>
              </a:defRPr>
            </a:pPr>
            <a:r>
              <a:t>cybercrime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Common Cyber Attack Vectors</a:t>
            </a:r>
          </a:p>
        </p:txBody>
      </p:sp>
      <p:sp>
        <p:nvSpPr>
          <p:cNvPr id="3" name="TextBox 2"/>
          <p:cNvSpPr txBox="1"/>
          <p:nvPr/>
        </p:nvSpPr>
        <p:spPr>
          <a:xfrm>
            <a:off x="457200" y="1188720"/>
            <a:ext cx="8229600" cy="3566160"/>
          </a:xfrm>
          <a:prstGeom prst="rect">
            <a:avLst/>
          </a:prstGeom>
          <a:noFill/>
        </p:spPr>
        <p:txBody>
          <a:bodyPr wrap="square">
            <a:normAutofit/>
          </a:bodyPr>
          <a:lstStyle/>
          <a:p>
            <a:pPr>
              <a:spcBef>
                <a:spcPts val="800"/>
              </a:spcBef>
              <a:spcAft>
                <a:spcPts val="400"/>
              </a:spcAft>
              <a:defRPr sz="1600" b="1">
                <a:solidFill>
                  <a:srgbClr val="C8DCFF"/>
                </a:solidFill>
                <a:latin typeface="Arial"/>
              </a:defRPr>
            </a:pPr>
            <a:r>
              <a:t>Phishing and Social Engineering remain dominant, with techniques like spear-phishing targeting specific individuals to gain access or information. Employees must be trained to identify and report suspicious communications.</a:t>
            </a:r>
          </a:p>
          <a:p>
            <a:pPr>
              <a:spcBef>
                <a:spcPts val="800"/>
              </a:spcBef>
              <a:spcAft>
                <a:spcPts val="400"/>
              </a:spcAft>
              <a:defRPr sz="1600" b="1">
                <a:solidFill>
                  <a:srgbClr val="C8DCFF"/>
                </a:solidFill>
                <a:latin typeface="Arial"/>
              </a:defRPr>
            </a:pPr>
            <a:r>
              <a:t>Ransomware attacks have surged by over 150% in the past year, paralyzing operations and demanding hefty payments, often leveraging sophisticated encryption. Robust backup strategies and endpoint detection are crucial.</a:t>
            </a:r>
          </a:p>
          <a:p>
            <a:pPr>
              <a:spcBef>
                <a:spcPts val="800"/>
              </a:spcBef>
              <a:spcAft>
                <a:spcPts val="400"/>
              </a:spcAft>
              <a:defRPr sz="1600" b="1">
                <a:solidFill>
                  <a:srgbClr val="C8DCFF"/>
                </a:solidFill>
                <a:latin typeface="Arial"/>
              </a:defRPr>
            </a:pPr>
            <a:r>
              <a:t>Distributed Denial of Service (DDoS) attacks overwhelm network resources, rendering services unavailable and causing significant operational disruptions and revenue loss. DDoS mitigation services are essential for business continuity.</a:t>
            </a:r>
          </a:p>
          <a:p>
            <a:pPr>
              <a:spcBef>
                <a:spcPts val="800"/>
              </a:spcBef>
              <a:spcAft>
                <a:spcPts val="400"/>
              </a:spcAft>
              <a:defRPr sz="1600" b="1">
                <a:solidFill>
                  <a:srgbClr val="C8DCFF"/>
                </a:solidFill>
                <a:latin typeface="Arial"/>
              </a:defRPr>
            </a:pPr>
            <a:r>
              <a:t>Supply Chain Attacks exploit trusted third-party vendors to compromise downstream organizations, as seen with SolarWinds. Thorough vendor risk management and continuous monitoring of third-party access are imperative.</a:t>
            </a:r>
          </a:p>
          <a:p>
            <a:pPr>
              <a:spcBef>
                <a:spcPts val="800"/>
              </a:spcBef>
              <a:spcAft>
                <a:spcPts val="400"/>
              </a:spcAft>
              <a:defRPr sz="1600" b="1">
                <a:solidFill>
                  <a:srgbClr val="C8DCFF"/>
                </a:solidFill>
                <a:latin typeface="Arial"/>
              </a:defRPr>
            </a:pPr>
            <a:r>
              <a:t>Insider Threats, both malicious and unintentional, pose significant risks by leveraging authorized access to exfiltrate data or disrupt systems. Implementing strict access controls and behavioral analytics can mitigate this.</a:t>
            </a:r>
          </a:p>
          <a:p>
            <a:pPr>
              <a:spcBef>
                <a:spcPts val="800"/>
              </a:spcBef>
              <a:spcAft>
                <a:spcPts val="400"/>
              </a:spcAft>
              <a:defRPr sz="1600" b="1">
                <a:solidFill>
                  <a:srgbClr val="C8DCFF"/>
                </a:solidFill>
                <a:latin typeface="Arial"/>
              </a:defRPr>
            </a:pPr>
            <a:r>
              <a:t>Zero-Day Exploits target previously unknown software vulnerabilities, offering attackers a brief window before patches are available. Advanced threat intelligence and intrusion prevention systems are vital for early detection.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Business Impact: Beyond Financial</a:t>
            </a:r>
          </a:p>
        </p:txBody>
      </p:sp>
      <p:sp>
        <p:nvSpPr>
          <p:cNvPr id="3" name="TextBox 2"/>
          <p:cNvSpPr txBox="1"/>
          <p:nvPr/>
        </p:nvSpPr>
        <p:spPr>
          <a:xfrm>
            <a:off x="457200" y="1188720"/>
            <a:ext cx="8229600" cy="3566160"/>
          </a:xfrm>
          <a:prstGeom prst="rect">
            <a:avLst/>
          </a:prstGeom>
          <a:noFill/>
        </p:spPr>
        <p:txBody>
          <a:bodyPr wrap="square">
            <a:normAutofit/>
          </a:bodyPr>
          <a:lstStyle/>
          <a:p>
            <a:pPr>
              <a:spcBef>
                <a:spcPts val="800"/>
              </a:spcBef>
              <a:spcAft>
                <a:spcPts val="400"/>
              </a:spcAft>
              <a:defRPr sz="1600" b="1">
                <a:solidFill>
                  <a:srgbClr val="C8DCFF"/>
                </a:solidFill>
                <a:latin typeface="Arial"/>
              </a:defRPr>
            </a:pPr>
            <a:r>
              <a:t>Financial losses extend beyond ransoms, encompassing forensic investigations, system recovery, legal fees, and potential regulatory fines, often totaling millions for a single major breach. The direct costs can be staggering and unpredictable.</a:t>
            </a:r>
          </a:p>
          <a:p>
            <a:pPr>
              <a:spcBef>
                <a:spcPts val="800"/>
              </a:spcBef>
              <a:spcAft>
                <a:spcPts val="400"/>
              </a:spcAft>
              <a:defRPr sz="1600" b="1">
                <a:solidFill>
                  <a:srgbClr val="C8DCFF"/>
                </a:solidFill>
                <a:latin typeface="Arial"/>
              </a:defRPr>
            </a:pPr>
            <a:r>
              <a:t>Reputational damage erodes customer trust and market value, making it difficult to attract new clients or retain existing ones, particularly in sensitive industries like finance or healthcare. Long-term brand perception is at stake.</a:t>
            </a:r>
          </a:p>
          <a:p>
            <a:pPr>
              <a:spcBef>
                <a:spcPts val="800"/>
              </a:spcBef>
              <a:spcAft>
                <a:spcPts val="400"/>
              </a:spcAft>
              <a:defRPr sz="1600" b="1">
                <a:solidFill>
                  <a:srgbClr val="C8DCFF"/>
                </a:solidFill>
                <a:latin typeface="Arial"/>
              </a:defRPr>
            </a:pPr>
            <a:r>
              <a:t>Operational disruption can halt critical business processes for days or weeks, leading to significant productivity loss, unmet service level agreements, and supply chain bottlenecks. Business continuity planning is paramount.</a:t>
            </a:r>
          </a:p>
          <a:p>
            <a:pPr>
              <a:spcBef>
                <a:spcPts val="800"/>
              </a:spcBef>
              <a:spcAft>
                <a:spcPts val="400"/>
              </a:spcAft>
              <a:defRPr sz="1600" b="1">
                <a:solidFill>
                  <a:srgbClr val="C8DCFF"/>
                </a:solidFill>
                <a:latin typeface="Arial"/>
              </a:defRPr>
            </a:pPr>
            <a:r>
              <a:t>Regulatory penalties are increasingly severe; GDPR fines can reach €20 million or 4% of global annual turnover, underscoring the legal imperative for data protection compliance. Non-compliance is a costly gamble.</a:t>
            </a:r>
          </a:p>
          <a:p>
            <a:pPr>
              <a:spcBef>
                <a:spcPts val="800"/>
              </a:spcBef>
              <a:spcAft>
                <a:spcPts val="400"/>
              </a:spcAft>
              <a:defRPr sz="1600" b="1">
                <a:solidFill>
                  <a:srgbClr val="C8DCFF"/>
                </a:solidFill>
                <a:latin typeface="Arial"/>
              </a:defRPr>
            </a:pPr>
            <a:r>
              <a:t>Loss of intellectual property and competitive advantage occurs when proprietary data, R&amp;D plans, or strategic insights are stolen, potentially costing years of innovation and market positioning. Data classification is key.</a:t>
            </a:r>
          </a:p>
          <a:p>
            <a:pPr>
              <a:spcBef>
                <a:spcPts val="800"/>
              </a:spcBef>
              <a:spcAft>
                <a:spcPts val="400"/>
              </a:spcAft>
              <a:defRPr sz="1600" b="1">
                <a:solidFill>
                  <a:srgbClr val="C8DCFF"/>
                </a:solidFill>
                <a:latin typeface="Arial"/>
              </a:defRPr>
            </a:pPr>
            <a:r>
              <a:t>Increased insurance premiums and uninsurable risks become a reality post-breach, as insurers adjust rates or deny coverage for organizations deemed high-risk. Proactive security can demonstrate insurability.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Building Resilient Cyber Defenses</a:t>
            </a:r>
          </a:p>
        </p:txBody>
      </p:sp>
      <p:sp>
        <p:nvSpPr>
          <p:cNvPr id="3" name="TextBox 2"/>
          <p:cNvSpPr txBox="1"/>
          <p:nvPr/>
        </p:nvSpPr>
        <p:spPr>
          <a:xfrm>
            <a:off x="457200" y="1188720"/>
            <a:ext cx="8229600" cy="3566160"/>
          </a:xfrm>
          <a:prstGeom prst="rect">
            <a:avLst/>
          </a:prstGeom>
          <a:noFill/>
        </p:spPr>
        <p:txBody>
          <a:bodyPr wrap="square">
            <a:normAutofit/>
          </a:bodyPr>
          <a:lstStyle/>
          <a:p>
            <a:pPr>
              <a:spcBef>
                <a:spcPts val="800"/>
              </a:spcBef>
              <a:spcAft>
                <a:spcPts val="400"/>
              </a:spcAft>
              <a:defRPr sz="1600" b="1">
                <a:solidFill>
                  <a:srgbClr val="C8DCFF"/>
                </a:solidFill>
                <a:latin typeface="Arial"/>
              </a:defRPr>
            </a:pPr>
            <a:r>
              <a:t>Implement a multi-layered security architecture, including firewalls, intrusion detection/prevention systems (IDPS), antivirus, and advanced endpoint protection. A defense-in-depth strategy fortifies against diverse attack vectors.</a:t>
            </a:r>
          </a:p>
          <a:p>
            <a:pPr>
              <a:spcBef>
                <a:spcPts val="800"/>
              </a:spcBef>
              <a:spcAft>
                <a:spcPts val="400"/>
              </a:spcAft>
              <a:defRPr sz="1600" b="1">
                <a:solidFill>
                  <a:srgbClr val="C8DCFF"/>
                </a:solidFill>
                <a:latin typeface="Arial"/>
              </a:defRPr>
            </a:pPr>
            <a:r>
              <a:t>Conduct regular employee security awareness training, focusing on phishing recognition, strong password practices, and data handling protocols. Empowering employees turns them into the first line of defense.</a:t>
            </a:r>
          </a:p>
          <a:p>
            <a:pPr>
              <a:spcBef>
                <a:spcPts val="800"/>
              </a:spcBef>
              <a:spcAft>
                <a:spcPts val="400"/>
              </a:spcAft>
              <a:defRPr sz="1600" b="1">
                <a:solidFill>
                  <a:srgbClr val="C8DCFF"/>
                </a:solidFill>
                <a:latin typeface="Arial"/>
              </a:defRPr>
            </a:pPr>
            <a:r>
              <a:t>Establish a comprehensive Incident Response Plan (IRP), regularly tested and updated, to ensure a swift, coordinated, and effective reaction to a security breach. Minimizing dwell time is critical for damage control.</a:t>
            </a:r>
          </a:p>
          <a:p>
            <a:pPr>
              <a:spcBef>
                <a:spcPts val="800"/>
              </a:spcBef>
              <a:spcAft>
                <a:spcPts val="400"/>
              </a:spcAft>
              <a:defRPr sz="1600" b="1">
                <a:solidFill>
                  <a:srgbClr val="C8DCFF"/>
                </a:solidFill>
                <a:latin typeface="Arial"/>
              </a:defRPr>
            </a:pPr>
            <a:r>
              <a:t>Adopt Zero Trust principles, meaning no user or device is trusted by default, regardless of whether they are inside or outside the network perimeter. Strict access controls and continuous verification reduce lateral movement.</a:t>
            </a:r>
          </a:p>
          <a:p>
            <a:pPr>
              <a:spcBef>
                <a:spcPts val="800"/>
              </a:spcBef>
              <a:spcAft>
                <a:spcPts val="400"/>
              </a:spcAft>
              <a:defRPr sz="1600" b="1">
                <a:solidFill>
                  <a:srgbClr val="C8DCFF"/>
                </a:solidFill>
                <a:latin typeface="Arial"/>
              </a:defRPr>
            </a:pPr>
            <a:r>
              <a:t>Utilize robust data encryption for data at rest and in transit, securing sensitive information from unauthorized access even if systems are breached. Data protection is foundational to compliance and trust.</a:t>
            </a:r>
          </a:p>
          <a:p>
            <a:pPr>
              <a:spcBef>
                <a:spcPts val="800"/>
              </a:spcBef>
              <a:spcAft>
                <a:spcPts val="400"/>
              </a:spcAft>
              <a:defRPr sz="1600" b="1">
                <a:solidFill>
                  <a:srgbClr val="C8DCFF"/>
                </a:solidFill>
                <a:latin typeface="Arial"/>
              </a:defRPr>
            </a:pPr>
            <a:r>
              <a:t>Perform continuous vulnerability assessments and penetration testing to identify weaknesses before attackers exploit them. Proactive scanning and ethical hacking help refine security postures.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Future Trends and Proactive Defense</a:t>
            </a:r>
          </a:p>
        </p:txBody>
      </p:sp>
      <p:sp>
        <p:nvSpPr>
          <p:cNvPr id="3" name="TextBox 2"/>
          <p:cNvSpPr txBox="1"/>
          <p:nvPr/>
        </p:nvSpPr>
        <p:spPr>
          <a:xfrm>
            <a:off x="457200" y="1188720"/>
            <a:ext cx="8229600" cy="3566160"/>
          </a:xfrm>
          <a:prstGeom prst="rect">
            <a:avLst/>
          </a:prstGeom>
          <a:noFill/>
        </p:spPr>
        <p:txBody>
          <a:bodyPr wrap="square">
            <a:normAutofit/>
          </a:bodyPr>
          <a:lstStyle/>
          <a:p>
            <a:pPr>
              <a:spcBef>
                <a:spcPts val="800"/>
              </a:spcBef>
              <a:spcAft>
                <a:spcPts val="400"/>
              </a:spcAft>
              <a:defRPr sz="1600" b="1">
                <a:solidFill>
                  <a:srgbClr val="C8DCFF"/>
                </a:solidFill>
                <a:latin typeface="Arial"/>
              </a:defRPr>
            </a:pPr>
            <a:r>
              <a:t>AI-powered attacks will become more sophisticated, leveraging machine learning for automated target profiling, evasion techniques, and deepfake phishing. AI-driven security tools are needed to counter these evolving threats.</a:t>
            </a:r>
          </a:p>
          <a:p>
            <a:pPr>
              <a:spcBef>
                <a:spcPts val="800"/>
              </a:spcBef>
              <a:spcAft>
                <a:spcPts val="400"/>
              </a:spcAft>
              <a:defRPr sz="1600" b="1">
                <a:solidFill>
                  <a:srgbClr val="C8DCFF"/>
                </a:solidFill>
                <a:latin typeface="Arial"/>
              </a:defRPr>
            </a:pPr>
            <a:r>
              <a:t>IoT device vulnerabilities present an expanding attack surface, as billions of interconnected devices often lack robust security controls. Comprehensive IoT security frameworks are essential for network integrity.</a:t>
            </a:r>
          </a:p>
          <a:p>
            <a:pPr>
              <a:spcBef>
                <a:spcPts val="800"/>
              </a:spcBef>
              <a:spcAft>
                <a:spcPts val="400"/>
              </a:spcAft>
              <a:defRPr sz="1600" b="1">
                <a:solidFill>
                  <a:srgbClr val="C8DCFF"/>
                </a:solidFill>
                <a:latin typeface="Arial"/>
              </a:defRPr>
            </a:pPr>
            <a:r>
              <a:t>Quantum computing poses a future threat to current encryption standards, potentially rendering existing cryptographic algorithms obsolete. Organizations must monitor quantum-safe cryptography developments for future migration.</a:t>
            </a:r>
          </a:p>
          <a:p>
            <a:pPr>
              <a:spcBef>
                <a:spcPts val="800"/>
              </a:spcBef>
              <a:spcAft>
                <a:spcPts val="400"/>
              </a:spcAft>
              <a:defRPr sz="1600" b="1">
                <a:solidFill>
                  <a:srgbClr val="C8DCFF"/>
                </a:solidFill>
                <a:latin typeface="Arial"/>
              </a:defRPr>
            </a:pPr>
            <a:r>
              <a:t>Supply chain compromise will remain a significant risk, with attackers increasingly targeting software libraries, open-source components, and third-party services. Enhanced software supply chain security is paramount.</a:t>
            </a:r>
          </a:p>
          <a:p>
            <a:pPr>
              <a:spcBef>
                <a:spcPts val="800"/>
              </a:spcBef>
              <a:spcAft>
                <a:spcPts val="400"/>
              </a:spcAft>
              <a:defRPr sz="1600" b="1">
                <a:solidFill>
                  <a:srgbClr val="C8DCFF"/>
                </a:solidFill>
                <a:latin typeface="Arial"/>
              </a:defRPr>
            </a:pPr>
            <a:r>
              <a:t>Increased focus on data privacy regulations will necessitate privacy-by-design approaches and more stringent controls over personal data collection and processing. Compliance needs to be embedded from inception.</a:t>
            </a:r>
          </a:p>
          <a:p>
            <a:pPr>
              <a:spcBef>
                <a:spcPts val="800"/>
              </a:spcBef>
              <a:spcAft>
                <a:spcPts val="400"/>
              </a:spcAft>
              <a:defRPr sz="1600" b="1">
                <a:solidFill>
                  <a:srgbClr val="C8DCFF"/>
                </a:solidFill>
                <a:latin typeface="Arial"/>
              </a:defRPr>
            </a:pPr>
            <a:r>
              <a:t>The cyber talent gap continues to widen, demanding innovative solutions like security automation, managed security services (MSSPs), and robust internal training programs to bridge the expertise deficit. Strategic partnerships are key.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