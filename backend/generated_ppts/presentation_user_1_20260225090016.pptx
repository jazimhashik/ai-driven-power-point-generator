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3600" b="1">
                <a:solidFill>
                  <a:srgbClr val="8AB4FF"/>
                </a:solidFill>
                <a:latin typeface="Arial"/>
              </a:defRPr>
            </a:pPr>
            <a:r>
              <a:t>cybercrime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The True Cost of Cyber Attacks</a:t>
            </a:r>
          </a:p>
        </p:txBody>
      </p:sp>
      <p:sp>
        <p:nvSpPr>
          <p:cNvPr id="3" name="TextBox 2"/>
          <p:cNvSpPr txBox="1"/>
          <p:nvPr/>
        </p:nvSpPr>
        <p:spPr>
          <a:xfrm>
            <a:off x="457200" y="1188720"/>
            <a:ext cx="8229600" cy="3566160"/>
          </a:xfrm>
          <a:prstGeom prst="rect">
            <a:avLst/>
          </a:prstGeom>
          <a:noFill/>
        </p:spPr>
        <p:txBody>
          <a:bodyPr wrap="square">
            <a:normAutofit/>
          </a:bodyPr>
          <a:lstStyle/>
          <a:p>
            <a:pPr>
              <a:spcBef>
                <a:spcPts val="800"/>
              </a:spcBef>
              <a:spcAft>
                <a:spcPts val="400"/>
              </a:spcAft>
              <a:defRPr sz="1600" b="1">
                <a:solidFill>
                  <a:srgbClr val="C8DCFF"/>
                </a:solidFill>
                <a:latin typeface="Arial"/>
              </a:defRPr>
            </a:pPr>
            <a:r>
              <a:t>Direct Financial Losses encompass not only ransom payments and recovery costs but also significant regulatory fines, such as GDPR penalties which can reach up to 4% of global annual turnover, severely impacting profitability.</a:t>
            </a:r>
          </a:p>
          <a:p>
            <a:pPr>
              <a:spcBef>
                <a:spcPts val="800"/>
              </a:spcBef>
              <a:spcAft>
                <a:spcPts val="400"/>
              </a:spcAft>
              <a:defRPr sz="1600" b="1">
                <a:solidFill>
                  <a:srgbClr val="C8DCFF"/>
                </a:solidFill>
                <a:latin typeface="Arial"/>
              </a:defRPr>
            </a:pPr>
            <a:r>
              <a:t>Reputational Damage and Erosion of Customer Trust are long-term consequences, as security incidents can lead to loss of customer loyalty, decreased market share, and difficulty attracting new clients, with surveys showing over 30% of consumers would cease doing business with a breached company.</a:t>
            </a:r>
          </a:p>
          <a:p>
            <a:pPr>
              <a:spcBef>
                <a:spcPts val="800"/>
              </a:spcBef>
              <a:spcAft>
                <a:spcPts val="400"/>
              </a:spcAft>
              <a:defRPr sz="1600" b="1">
                <a:solidFill>
                  <a:srgbClr val="C8DCFF"/>
                </a:solidFill>
                <a:latin typeface="Arial"/>
              </a:defRPr>
            </a:pPr>
            <a:r>
              <a:t>Operational Disruption and Downtime are immediate and costly, as systems become inaccessible, halting business processes, manufacturing, and service delivery, leading to significant revenue loss-estimated at an average of $5,600 per minute of downtime.</a:t>
            </a:r>
          </a:p>
          <a:p>
            <a:pPr>
              <a:spcBef>
                <a:spcPts val="800"/>
              </a:spcBef>
              <a:spcAft>
                <a:spcPts val="400"/>
              </a:spcAft>
              <a:defRPr sz="1600" b="1">
                <a:solidFill>
                  <a:srgbClr val="C8DCFF"/>
                </a:solidFill>
                <a:latin typeface="Arial"/>
              </a:defRPr>
            </a:pPr>
            <a:r>
              <a:t>Regulatory and Legal Ramifications extend beyond fines to include lengthy investigations, legal fees, and potential class-action lawsuits, creating substantial overhead and diverting critical resources from core business activities.</a:t>
            </a:r>
          </a:p>
          <a:p>
            <a:pPr>
              <a:spcBef>
                <a:spcPts val="800"/>
              </a:spcBef>
              <a:spcAft>
                <a:spcPts val="400"/>
              </a:spcAft>
              <a:defRPr sz="1600" b="1">
                <a:solidFill>
                  <a:srgbClr val="C8DCFF"/>
                </a:solidFill>
                <a:latin typeface="Arial"/>
              </a:defRPr>
            </a:pPr>
            <a:r>
              <a:t>Intellectual Property Theft and Data Exfiltration can result in irreversible competitive disadvantages, compromising trade secrets, R&amp;D data, and strategic plans, directly impacting innovation and market leadership.</a:t>
            </a:r>
          </a:p>
          <a:p>
            <a:pPr>
              <a:spcBef>
                <a:spcPts val="800"/>
              </a:spcBef>
              <a:spcAft>
                <a:spcPts val="400"/>
              </a:spcAft>
              <a:defRPr sz="1600" b="1">
                <a:solidFill>
                  <a:srgbClr val="C8DCFF"/>
                </a:solidFill>
                <a:latin typeface="Arial"/>
              </a:defRPr>
            </a:pPr>
            <a:r>
              <a:t>Increased Insurance Premiums and the challenges in obtaining cyber insurance reflect the escalating risk landscape, making risk transfer more expensive and scrutinizing an organization’s security posture more rigorously, emphasizing proactive risk mitigation.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Fortifying Your Digital Defenses</a:t>
            </a:r>
          </a:p>
        </p:txBody>
      </p:sp>
      <p:sp>
        <p:nvSpPr>
          <p:cNvPr id="3" name="TextBox 2"/>
          <p:cNvSpPr txBox="1"/>
          <p:nvPr/>
        </p:nvSpPr>
        <p:spPr>
          <a:xfrm>
            <a:off x="457200" y="1188720"/>
            <a:ext cx="8229600" cy="3566160"/>
          </a:xfrm>
          <a:prstGeom prst="rect">
            <a:avLst/>
          </a:prstGeom>
          <a:noFill/>
        </p:spPr>
        <p:txBody>
          <a:bodyPr wrap="square">
            <a:normAutofit/>
          </a:bodyPr>
          <a:lstStyle/>
          <a:p>
            <a:pPr>
              <a:spcBef>
                <a:spcPts val="800"/>
              </a:spcBef>
              <a:spcAft>
                <a:spcPts val="400"/>
              </a:spcAft>
              <a:defRPr sz="1600" b="1">
                <a:solidFill>
                  <a:srgbClr val="C8DCFF"/>
                </a:solidFill>
                <a:latin typeface="Arial"/>
              </a:defRPr>
            </a:pPr>
            <a:r>
              <a:t>Implement a Robust Endpoint Detection and Response (EDR) or Extended Detection and Response (XDR) solution to provide real-time monitoring, threat detection, and automated response capabilities across endpoints, networks, and cloud environments.</a:t>
            </a:r>
          </a:p>
          <a:p>
            <a:pPr>
              <a:spcBef>
                <a:spcPts val="800"/>
              </a:spcBef>
              <a:spcAft>
                <a:spcPts val="400"/>
              </a:spcAft>
              <a:defRPr sz="1600" b="1">
                <a:solidFill>
                  <a:srgbClr val="C8DCFF"/>
                </a:solidFill>
                <a:latin typeface="Arial"/>
              </a:defRPr>
            </a:pPr>
            <a:r>
              <a:t>Adopt a Zero Trust Security Architecture, assuming no user or device is inherently trustworthy, requiring continuous verification for every access request, thereby significantly reducing the lateral movement of attackers within a compromised network.</a:t>
            </a:r>
          </a:p>
          <a:p>
            <a:pPr>
              <a:spcBef>
                <a:spcPts val="800"/>
              </a:spcBef>
              <a:spcAft>
                <a:spcPts val="400"/>
              </a:spcAft>
              <a:defRPr sz="1600" b="1">
                <a:solidFill>
                  <a:srgbClr val="C8DCFF"/>
                </a:solidFill>
                <a:latin typeface="Arial"/>
              </a:defRPr>
            </a:pPr>
            <a:r>
              <a:t>Conduct Continuous Employee Security Awareness Training, including simulated phishing campaigns and practical workshops, to transform employees from potential vulnerabilities into the organization's first line of defense against social engineering.</a:t>
            </a:r>
          </a:p>
          <a:p>
            <a:pPr>
              <a:spcBef>
                <a:spcPts val="800"/>
              </a:spcBef>
              <a:spcAft>
                <a:spcPts val="400"/>
              </a:spcAft>
              <a:defRPr sz="1600" b="1">
                <a:solidFill>
                  <a:srgbClr val="C8DCFF"/>
                </a:solidFill>
                <a:latin typeface="Arial"/>
              </a:defRPr>
            </a:pPr>
            <a:r>
              <a:t>Develop and Regularly Exercise an Incident Response Plan (IRP), ensuring clear roles, responsibilities, and procedures are in place to minimize the impact of a breach, with tabletop exercises confirming readiness and identifying gaps.</a:t>
            </a:r>
          </a:p>
          <a:p>
            <a:pPr>
              <a:spcBef>
                <a:spcPts val="800"/>
              </a:spcBef>
              <a:spcAft>
                <a:spcPts val="400"/>
              </a:spcAft>
              <a:defRPr sz="1600" b="1">
                <a:solidFill>
                  <a:srgbClr val="C8DCFF"/>
                </a:solidFill>
                <a:latin typeface="Arial"/>
              </a:defRPr>
            </a:pPr>
            <a:r>
              <a:t>Enforce Multi-Factor Authentication (MFA) across all critical systems, applications, and user accounts, as it is one of the most effective controls against credential theft, making it significantly harder for unauthorized users to gain access even with stolen passwords.</a:t>
            </a:r>
          </a:p>
          <a:p>
            <a:pPr>
              <a:spcBef>
                <a:spcPts val="800"/>
              </a:spcBef>
              <a:spcAft>
                <a:spcPts val="400"/>
              </a:spcAft>
              <a:defRPr sz="1600" b="1">
                <a:solidFill>
                  <a:srgbClr val="C8DCFF"/>
                </a:solidFill>
                <a:latin typeface="Arial"/>
              </a:defRPr>
            </a:pPr>
            <a:r>
              <a:t>Perform Regular Vulnerability Assessments and Penetration Testing (VA/PT), leveraging both automated tools and ethical hackers to identify exploitable weaknesses in systems, applications, and networks before malicious actors can exploit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Future Cyber Threats &amp; Mitigation</a:t>
            </a:r>
          </a:p>
        </p:txBody>
      </p:sp>
      <p:sp>
        <p:nvSpPr>
          <p:cNvPr id="3" name="TextBox 2"/>
          <p:cNvSpPr txBox="1"/>
          <p:nvPr/>
        </p:nvSpPr>
        <p:spPr>
          <a:xfrm>
            <a:off x="457200" y="1188720"/>
            <a:ext cx="8229600" cy="3566160"/>
          </a:xfrm>
          <a:prstGeom prst="rect">
            <a:avLst/>
          </a:prstGeom>
          <a:noFill/>
        </p:spPr>
        <p:txBody>
          <a:bodyPr wrap="square">
            <a:normAutofit/>
          </a:bodyPr>
          <a:lstStyle/>
          <a:p>
            <a:pPr>
              <a:spcBef>
                <a:spcPts val="800"/>
              </a:spcBef>
              <a:spcAft>
                <a:spcPts val="400"/>
              </a:spcAft>
              <a:defRPr sz="1600" b="1">
                <a:solidFill>
                  <a:srgbClr val="C8DCFF"/>
                </a:solidFill>
                <a:latin typeface="Arial"/>
              </a:defRPr>
            </a:pPr>
            <a:r>
              <a:t>AI and Machine Learning in Attack Sophistication will enable advanced threat actors to create highly sophisticated deepfakes for deception, automate attack reconnaissance, and craft personalized phishing campaigns at scale, demanding AI-driven defense mechanisms.</a:t>
            </a:r>
          </a:p>
          <a:p>
            <a:pPr>
              <a:spcBef>
                <a:spcPts val="800"/>
              </a:spcBef>
              <a:spcAft>
                <a:spcPts val="400"/>
              </a:spcAft>
              <a:defRPr sz="1600" b="1">
                <a:solidFill>
                  <a:srgbClr val="C8DCFF"/>
                </a:solidFill>
                <a:latin typeface="Arial"/>
              </a:defRPr>
            </a:pPr>
            <a:r>
              <a:t>Quantum Computing Threats loom as a future risk, potentially breaking current public-key encryption standards like RSA and ECC, necessitating strategic planning for post-quantum cryptography (PQC) migration and research into quantum-resistant algorithms.</a:t>
            </a:r>
          </a:p>
          <a:p>
            <a:pPr>
              <a:spcBef>
                <a:spcPts val="800"/>
              </a:spcBef>
              <a:spcAft>
                <a:spcPts val="400"/>
              </a:spcAft>
              <a:defRPr sz="1600" b="1">
                <a:solidFill>
                  <a:srgbClr val="C8DCFF"/>
                </a:solidFill>
                <a:latin typeface="Arial"/>
              </a:defRPr>
            </a:pPr>
            <a:r>
              <a:t>Escalating Geopolitical Cyber Warfare will intensify, with nation-state actors targeting critical infrastructure, democratic processes, and economic stability, requiring organizations to enhance threat intelligence sharing and governmental partnerships.</a:t>
            </a:r>
          </a:p>
          <a:p>
            <a:pPr>
              <a:spcBef>
                <a:spcPts val="800"/>
              </a:spcBef>
              <a:spcAft>
                <a:spcPts val="400"/>
              </a:spcAft>
              <a:defRPr sz="1600" b="1">
                <a:solidFill>
                  <a:srgbClr val="C8DCFF"/>
                </a:solidFill>
                <a:latin typeface="Arial"/>
              </a:defRPr>
            </a:pPr>
            <a:r>
              <a:t>Increased Targeting of Critical Infrastructure (CI) and Operational Technology (OT) environments by sophisticated groups represents a severe risk to national security and public safety, demanding convergence of IT/OT security practices and specialized defense strategies.</a:t>
            </a:r>
          </a:p>
          <a:p>
            <a:pPr>
              <a:spcBef>
                <a:spcPts val="800"/>
              </a:spcBef>
              <a:spcAft>
                <a:spcPts val="400"/>
              </a:spcAft>
              <a:defRPr sz="1600" b="1">
                <a:solidFill>
                  <a:srgbClr val="C8DCFF"/>
                </a:solidFill>
                <a:latin typeface="Arial"/>
              </a:defRPr>
            </a:pPr>
            <a:r>
              <a:t>Evolving Regulatory Landscape will bring more stringent data privacy laws, mandatory breach reporting requirements, and increased accountability for cybersecurity posture globally, compelling organizations to adopt comprehensive compliance frameworks like NIST CSF or ISO 27001.</a:t>
            </a:r>
          </a:p>
          <a:p>
            <a:pPr>
              <a:spcBef>
                <a:spcPts val="800"/>
              </a:spcBef>
              <a:spcAft>
                <a:spcPts val="400"/>
              </a:spcAft>
              <a:defRPr sz="1600" b="1">
                <a:solidFill>
                  <a:srgbClr val="C8DCFF"/>
                </a:solidFill>
                <a:latin typeface="Arial"/>
              </a:defRPr>
            </a:pPr>
            <a:r>
              <a:t>The Convergence of Physical and Cyber Security will become paramount, as physical access controls, IoT devices, and operational technologies increasingly connect to IT networks, blurring the lines and requiring integrated security strategies to manage holistic risk.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Executive Cyber Resilience Roadmap</a:t>
            </a:r>
          </a:p>
        </p:txBody>
      </p:sp>
      <p:sp>
        <p:nvSpPr>
          <p:cNvPr id="3" name="TextBox 2"/>
          <p:cNvSpPr txBox="1"/>
          <p:nvPr/>
        </p:nvSpPr>
        <p:spPr>
          <a:xfrm>
            <a:off x="457200" y="1188720"/>
            <a:ext cx="8229600" cy="3566160"/>
          </a:xfrm>
          <a:prstGeom prst="rect">
            <a:avLst/>
          </a:prstGeom>
          <a:noFill/>
        </p:spPr>
        <p:txBody>
          <a:bodyPr wrap="square">
            <a:normAutofit/>
          </a:bodyPr>
          <a:lstStyle/>
          <a:p>
            <a:pPr>
              <a:spcBef>
                <a:spcPts val="800"/>
              </a:spcBef>
              <a:spcAft>
                <a:spcPts val="400"/>
              </a:spcAft>
              <a:defRPr sz="1600" b="1">
                <a:solidFill>
                  <a:srgbClr val="C8DCFF"/>
                </a:solidFill>
                <a:latin typeface="Arial"/>
              </a:defRPr>
            </a:pPr>
            <a:r>
              <a:t>Integrate Cybersecurity into Overall Business Strategy by establishing board-level oversight, regularly reviewing cyber risk metrics, and aligning security investments with strategic business objectives to ensure enterprise-wide resilience.</a:t>
            </a:r>
          </a:p>
          <a:p>
            <a:pPr>
              <a:spcBef>
                <a:spcPts val="800"/>
              </a:spcBef>
              <a:spcAft>
                <a:spcPts val="400"/>
              </a:spcAft>
              <a:defRPr sz="1600" b="1">
                <a:solidFill>
                  <a:srgbClr val="C8DCFF"/>
                </a:solidFill>
                <a:latin typeface="Arial"/>
              </a:defRPr>
            </a:pPr>
            <a:r>
              <a:t>Allocate Adequate and Strategic Budget for Security Investments, recognizing cybersecurity as a continuous operational imperative rather than a discretionary expense, ensuring resources for advanced tools, skilled personnel, and ongoing training.</a:t>
            </a:r>
          </a:p>
          <a:p>
            <a:pPr>
              <a:spcBef>
                <a:spcPts val="800"/>
              </a:spcBef>
              <a:spcAft>
                <a:spcPts val="400"/>
              </a:spcAft>
              <a:defRPr sz="1600" b="1">
                <a:solidFill>
                  <a:srgbClr val="C8DCFF"/>
                </a:solidFill>
                <a:latin typeface="Arial"/>
              </a:defRPr>
            </a:pPr>
            <a:r>
              <a:t>Foster a Culture of Security Accountability from the top down, promoting awareness and responsibility across all employees, making cybersecurity a shared organizational value rather than solely an IT department concern.</a:t>
            </a:r>
          </a:p>
          <a:p>
            <a:pPr>
              <a:spcBef>
                <a:spcPts val="800"/>
              </a:spcBef>
              <a:spcAft>
                <a:spcPts val="400"/>
              </a:spcAft>
              <a:defRPr sz="1600" b="1">
                <a:solidFill>
                  <a:srgbClr val="C8DCFF"/>
                </a:solidFill>
                <a:latin typeface="Arial"/>
              </a:defRPr>
            </a:pPr>
            <a:r>
              <a:t>Establish Robust Third-Party Risk Management programs, meticulously vetting vendors and partners for their security posture, incorporating strong security clauses in contracts, and continuously monitoring their compliance to mitigate supply chain risks.</a:t>
            </a:r>
          </a:p>
          <a:p>
            <a:pPr>
              <a:spcBef>
                <a:spcPts val="800"/>
              </a:spcBef>
              <a:spcAft>
                <a:spcPts val="400"/>
              </a:spcAft>
              <a:defRPr sz="1600" b="1">
                <a:solidFill>
                  <a:srgbClr val="C8DCFF"/>
                </a:solidFill>
                <a:latin typeface="Arial"/>
              </a:defRPr>
            </a:pPr>
            <a:r>
              <a:t>Engage in Cyber Threat Intelligence (CTI) Sharing with industry peers, government agencies, and specialized providers to gain proactive insights into emerging threats, attack methodologies, and vulnerabilities, enabling informed defensive strategies.</a:t>
            </a:r>
          </a:p>
          <a:p>
            <a:pPr>
              <a:spcBef>
                <a:spcPts val="800"/>
              </a:spcBef>
              <a:spcAft>
                <a:spcPts val="400"/>
              </a:spcAft>
              <a:defRPr sz="1600" b="1">
                <a:solidFill>
                  <a:srgbClr val="C8DCFF"/>
                </a:solidFill>
                <a:latin typeface="Arial"/>
              </a:defRPr>
            </a:pPr>
            <a:r>
              <a:t>Prioritize Data Governance and Classification, ensuring sensitive data is accurately identified, categorized, and protected according to its criticality and regulatory requirements, minimizing exposure and facilitating efficient incident response.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