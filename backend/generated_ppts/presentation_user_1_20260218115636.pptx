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3600" b="1">
                <a:solidFill>
                  <a:srgbClr val="8AB4FF"/>
                </a:solidFill>
                <a:latin typeface="Poppins"/>
              </a:defRPr>
            </a:pPr>
            <a:r>
              <a:t>ai in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3600" b="1">
                <a:solidFill>
                  <a:srgbClr val="8AB4FF"/>
                </a:solidFill>
                <a:latin typeface="Poppins"/>
              </a:defRPr>
            </a:pPr>
            <a:r>
              <a:t>Transforming Key Indian Sectors with AI</a:t>
            </a:r>
          </a:p>
        </p:txBody>
      </p:sp>
      <p:sp>
        <p:nvSpPr>
          <p:cNvPr id="3" name="TextBox 2"/>
          <p:cNvSpPr txBox="1"/>
          <p:nvPr/>
        </p:nvSpPr>
        <p:spPr>
          <a:xfrm>
            <a:off x="457200" y="1280160"/>
            <a:ext cx="3840480" cy="3657600"/>
          </a:xfrm>
          <a:prstGeom prst="rect">
            <a:avLst/>
          </a:prstGeom>
          <a:noFill/>
        </p:spPr>
        <p:txBody>
          <a:bodyPr wrap="square">
            <a:spAutoFit/>
          </a:bodyPr>
          <a:lstStyle/>
          <a:p>
            <a:pPr>
              <a:spcBef>
                <a:spcPts val="1000"/>
              </a:spcBef>
              <a:spcAft>
                <a:spcPts val="400"/>
              </a:spcAft>
              <a:defRPr sz="1600" b="1">
                <a:solidFill>
                  <a:srgbClr val="C8DCFF"/>
                </a:solidFill>
                <a:latin typeface="Poppins"/>
              </a:defRPr>
            </a:pPr>
            <a:r>
              <a:t>Healthcare leverages AI for predictive diagnostics, drug discovery, and personalized treatment plans, exemplified by companies like Niramai utilizing AI for early breast cancer detection. This significantly improves patient outcomes and reduces healthcare costs, particularly in underserved rural areas.</a:t>
            </a:r>
          </a:p>
          <a:p>
            <a:pPr>
              <a:spcBef>
                <a:spcPts val="1000"/>
              </a:spcBef>
              <a:spcAft>
                <a:spcPts val="400"/>
              </a:spcAft>
              <a:defRPr sz="1600" b="1">
                <a:solidFill>
                  <a:srgbClr val="C8DCFF"/>
                </a:solidFill>
                <a:latin typeface="Poppins"/>
              </a:defRPr>
            </a:pPr>
            <a:r>
              <a:t>Financial Services deploy AI for fraud detection, algorithmic trading, credit scoring, and personalized banking experiences, with firms like HDFC Bank implementing AI chatbots to enhance customer engagement and streamline operations. This bolsters security, increases efficiency, and expands financial inclusion.</a:t>
            </a:r>
          </a:p>
          <a:p>
            <a:pPr>
              <a:spcBef>
                <a:spcPts val="1000"/>
              </a:spcBef>
              <a:spcAft>
                <a:spcPts val="400"/>
              </a:spcAft>
              <a:defRPr sz="1600" b="1">
                <a:solidFill>
                  <a:srgbClr val="C8DCFF"/>
                </a:solidFill>
                <a:latin typeface="Poppins"/>
              </a:defRPr>
            </a:pPr>
            <a:r>
              <a:t>Agriculture benefits from AI-powered precision farming, crop yield prediction, pest detection, and supply chain optimization, with startups like Fasal using AI-IoT solutions to help farmers reduce water usage and improve yields. This addresses food security concerns and boosts farmer income.</a:t>
            </a:r>
          </a:p>
        </p:txBody>
      </p:sp>
      <p:sp>
        <p:nvSpPr>
          <p:cNvPr id="4" name="TextBox 3"/>
          <p:cNvSpPr txBox="1"/>
          <p:nvPr/>
        </p:nvSpPr>
        <p:spPr>
          <a:xfrm>
            <a:off x="4754880" y="1280160"/>
            <a:ext cx="3840480" cy="3657600"/>
          </a:xfrm>
          <a:prstGeom prst="rect">
            <a:avLst/>
          </a:prstGeom>
          <a:noFill/>
        </p:spPr>
        <p:txBody>
          <a:bodyPr wrap="square">
            <a:spAutoFit/>
          </a:bodyPr>
          <a:lstStyle/>
          <a:p>
            <a:pPr>
              <a:spcBef>
                <a:spcPts val="1000"/>
              </a:spcBef>
              <a:spcAft>
                <a:spcPts val="400"/>
              </a:spcAft>
              <a:defRPr sz="1600" b="1">
                <a:solidFill>
                  <a:srgbClr val="C8DCFF"/>
                </a:solidFill>
                <a:latin typeface="Poppins"/>
              </a:defRPr>
            </a:pPr>
            <a:r>
              <a:t>Education utilizes AI for personalized learning paths, intelligent tutoring systems, and administrative automation, as seen with BYJU'S AI-driven adaptive learning platforms. This enhances learning outcomes, makes education more accessible, and tailors content to individual student needs.</a:t>
            </a:r>
          </a:p>
          <a:p>
            <a:pPr>
              <a:spcBef>
                <a:spcPts val="1000"/>
              </a:spcBef>
              <a:spcAft>
                <a:spcPts val="400"/>
              </a:spcAft>
              <a:defRPr sz="1600" b="1">
                <a:solidFill>
                  <a:srgbClr val="C8DCFF"/>
                </a:solidFill>
                <a:latin typeface="Poppins"/>
              </a:defRPr>
            </a:pPr>
            <a:r>
              <a:t>Retail and E-commerce adopt AI for personalized recommendations, inventory management, demand forecasting, and customer service chatbots, driving higher sales and improved customer satisfaction. This optimizes supply chains and creates hyper-relevant shopping experiences, reducing waste.</a:t>
            </a:r>
          </a:p>
          <a:p>
            <a:pPr>
              <a:spcBef>
                <a:spcPts val="1000"/>
              </a:spcBef>
              <a:spcAft>
                <a:spcPts val="400"/>
              </a:spcAft>
              <a:defRPr sz="1600" b="1">
                <a:solidFill>
                  <a:srgbClr val="C8DCFF"/>
                </a:solidFill>
                <a:latin typeface="Poppins"/>
              </a:defRPr>
            </a:pPr>
            <a:r>
              <a:t>Manufacturing uses AI for predictive maintenance, quality control, robot automation, and supply chain optimization, leading to increased productivity and reduced downtime. Tata Motors, for instance, employs AI for quality checks, ensuring higher product reliability and operational safety.</a:t>
            </a:r>
          </a:p>
          <a:p>
            <a:pPr>
              <a:spcBef>
                <a:spcPts val="1000"/>
              </a:spcBef>
              <a:spcAft>
                <a:spcPts val="400"/>
              </a:spcAft>
              <a:defRPr sz="1600" b="1">
                <a:solidFill>
                  <a:srgbClr val="C8DCFF"/>
                </a:solidFill>
                <a:latin typeface="Poppins"/>
              </a:defRPr>
            </a:pPr>
            <a:r>
              <a:t>Government services are integrating AI for public grievance redressal, smart city management, disaster management, and efficient resource allocation, improving citizen services and governance transparency. The use of AI in traffic management in cities like Bengaluru helps optimize flow and reduce congestion.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3600" b="1">
                <a:solidFill>
                  <a:srgbClr val="8AB4FF"/>
                </a:solidFill>
                <a:latin typeface="Poppins"/>
              </a:defRPr>
            </a:pPr>
            <a:r>
              <a:t>Navigating AI's Challenges and Opportunities</a:t>
            </a:r>
          </a:p>
        </p:txBody>
      </p:sp>
      <p:sp>
        <p:nvSpPr>
          <p:cNvPr id="3" name="TextBox 2"/>
          <p:cNvSpPr txBox="1"/>
          <p:nvPr/>
        </p:nvSpPr>
        <p:spPr>
          <a:xfrm>
            <a:off x="457200" y="1280160"/>
            <a:ext cx="3840480" cy="3657600"/>
          </a:xfrm>
          <a:prstGeom prst="rect">
            <a:avLst/>
          </a:prstGeom>
          <a:noFill/>
        </p:spPr>
        <p:txBody>
          <a:bodyPr wrap="square">
            <a:spAutoFit/>
          </a:bodyPr>
          <a:lstStyle/>
          <a:p>
            <a:pPr>
              <a:spcBef>
                <a:spcPts val="1000"/>
              </a:spcBef>
              <a:spcAft>
                <a:spcPts val="400"/>
              </a:spcAft>
              <a:defRPr sz="1600" b="1">
                <a:solidFill>
                  <a:srgbClr val="C8DCFF"/>
                </a:solidFill>
                <a:latin typeface="Poppins"/>
              </a:defRPr>
            </a:pPr>
            <a:r>
              <a:t>Data privacy and security concerns remain paramount in a diverse nation like India, necessitating robust regulatory frameworks like the upcoming Digital Personal Data Protection Bill. Ensuring secure and ethical data handling is critical for building public trust and facilitating widespread AI adoption across sensitive sectors.</a:t>
            </a:r>
          </a:p>
          <a:p>
            <a:pPr>
              <a:spcBef>
                <a:spcPts val="1000"/>
              </a:spcBef>
              <a:spcAft>
                <a:spcPts val="400"/>
              </a:spcAft>
              <a:defRPr sz="1600" b="1">
                <a:solidFill>
                  <a:srgbClr val="C8DCFF"/>
                </a:solidFill>
                <a:latin typeface="Poppins"/>
              </a:defRPr>
            </a:pPr>
            <a:r>
              <a:t>Skill gap in AI/ML talent is a significant bottleneck, requiring substantial investment in upskilling and reskilling programs for the existing workforce and integrating AI curricula into higher education. This talent deficit affects development velocity and the quality of AI solutions, demanding proactive educational initiatives.</a:t>
            </a:r>
          </a:p>
          <a:p>
            <a:pPr>
              <a:spcBef>
                <a:spcPts val="1000"/>
              </a:spcBef>
              <a:spcAft>
                <a:spcPts val="400"/>
              </a:spcAft>
              <a:defRPr sz="1600" b="1">
                <a:solidFill>
                  <a:srgbClr val="C8DCFF"/>
                </a:solidFill>
                <a:latin typeface="Poppins"/>
              </a:defRPr>
            </a:pPr>
            <a:r>
              <a:t>Infrastructure limitations, particularly in rural connectivity and high-performance computing, can hinder the equitable deployment of AI solutions across the country. Bridging this digital divide through improved broadband access and cloud infrastructure is crucial for inclusive AI growth.</a:t>
            </a:r>
          </a:p>
        </p:txBody>
      </p:sp>
      <p:sp>
        <p:nvSpPr>
          <p:cNvPr id="4" name="TextBox 3"/>
          <p:cNvSpPr txBox="1"/>
          <p:nvPr/>
        </p:nvSpPr>
        <p:spPr>
          <a:xfrm>
            <a:off x="4754880" y="1280160"/>
            <a:ext cx="3840480" cy="3657600"/>
          </a:xfrm>
          <a:prstGeom prst="rect">
            <a:avLst/>
          </a:prstGeom>
          <a:noFill/>
        </p:spPr>
        <p:txBody>
          <a:bodyPr wrap="square">
            <a:spAutoFit/>
          </a:bodyPr>
          <a:lstStyle/>
          <a:p>
            <a:pPr>
              <a:spcBef>
                <a:spcPts val="1000"/>
              </a:spcBef>
              <a:spcAft>
                <a:spcPts val="400"/>
              </a:spcAft>
              <a:defRPr sz="1600" b="1">
                <a:solidFill>
                  <a:srgbClr val="C8DCFF"/>
                </a:solidFill>
                <a:latin typeface="Poppins"/>
              </a:defRPr>
            </a:pPr>
            <a:r>
              <a:t>Ethical AI development and deployment pose complex challenges, especially concerning algorithmic bias, fairness, and accountability in applications affecting large populations. Establishing clear ethical guidelines and governance structures is essential to prevent unintended societal harms and build trustworthy AI systems.</a:t>
            </a:r>
          </a:p>
          <a:p>
            <a:pPr>
              <a:spcBef>
                <a:spcPts val="1000"/>
              </a:spcBef>
              <a:spcAft>
                <a:spcPts val="400"/>
              </a:spcAft>
              <a:defRPr sz="1600" b="1">
                <a:solidFill>
                  <a:srgbClr val="C8DCFF"/>
                </a:solidFill>
                <a:latin typeface="Poppins"/>
              </a:defRPr>
            </a:pPr>
            <a:r>
              <a:t>Access to quality, labelled datasets is often fragmented and insufficient, especially for vernacular languages and diverse regional contexts, impeding the training of robust AI models. Collaborative efforts between industry, academia, and government are needed to curate and democratize access to high-quality, representative datasets.</a:t>
            </a:r>
          </a:p>
          <a:p>
            <a:pPr>
              <a:spcBef>
                <a:spcPts val="1000"/>
              </a:spcBef>
              <a:spcAft>
                <a:spcPts val="400"/>
              </a:spcAft>
              <a:defRPr sz="1600" b="1">
                <a:solidFill>
                  <a:srgbClr val="C8DCFF"/>
                </a:solidFill>
                <a:latin typeface="Poppins"/>
              </a:defRPr>
            </a:pPr>
            <a:r>
              <a:t>Funding for AI research and startups, while growing, needs further acceleration, particularly for deep-tech innovation and long-term R&amp;D projects. Government grants, venture capital, and corporate partnerships are vital to nurture India's AI innovation ecosystem and translate research into market-ready products.</a:t>
            </a:r>
          </a:p>
          <a:p>
            <a:pPr>
              <a:spcBef>
                <a:spcPts val="1000"/>
              </a:spcBef>
              <a:spcAft>
                <a:spcPts val="400"/>
              </a:spcAft>
              <a:defRPr sz="1600" b="1">
                <a:solidFill>
                  <a:srgbClr val="C8DCFF"/>
                </a:solidFill>
                <a:latin typeface="Poppins"/>
              </a:defRPr>
            </a:pPr>
            <a:r>
              <a:t>Regulatory uncertainty surrounding emerging AI applications can stifle innovation and create compliance challenges for businesses. Developing agile and adaptive regulatory sandboxes and frameworks is crucial to balance innovation with public safety and ethical considerations, providing clarity for 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3600" b="1">
                <a:solidFill>
                  <a:srgbClr val="8AB4FF"/>
                </a:solidFill>
                <a:latin typeface="Poppins"/>
              </a:defRPr>
            </a:pPr>
            <a:r>
              <a:t>India's Government AI Strategy: Vision &amp; Action</a:t>
            </a:r>
          </a:p>
        </p:txBody>
      </p:sp>
      <p:sp>
        <p:nvSpPr>
          <p:cNvPr id="3" name="TextBox 2"/>
          <p:cNvSpPr txBox="1"/>
          <p:nvPr/>
        </p:nvSpPr>
        <p:spPr>
          <a:xfrm>
            <a:off x="457200" y="1280160"/>
            <a:ext cx="3840480" cy="3657600"/>
          </a:xfrm>
          <a:prstGeom prst="rect">
            <a:avLst/>
          </a:prstGeom>
          <a:noFill/>
        </p:spPr>
        <p:txBody>
          <a:bodyPr wrap="square">
            <a:spAutoFit/>
          </a:bodyPr>
          <a:lstStyle/>
          <a:p>
            <a:pPr>
              <a:spcBef>
                <a:spcPts val="1000"/>
              </a:spcBef>
              <a:spcAft>
                <a:spcPts val="400"/>
              </a:spcAft>
              <a:defRPr sz="1600" b="1">
                <a:solidFill>
                  <a:srgbClr val="C8DCFF"/>
                </a:solidFill>
                <a:latin typeface="Poppins"/>
              </a:defRPr>
            </a:pPr>
            <a:r>
              <a:t>NITI Aayog's 'National Strategy for Artificial Intelligence' (NSAI) outlines a comprehensive vision to position India as a global AI leader, focusing on inclusive AI for all. This foundational document provides a strategic roadmap, identifying key sectors for AI intervention and prioritizing research, responsible AI, and skill development.</a:t>
            </a:r>
          </a:p>
          <a:p>
            <a:pPr>
              <a:spcBef>
                <a:spcPts val="1000"/>
              </a:spcBef>
              <a:spcAft>
                <a:spcPts val="400"/>
              </a:spcAft>
              <a:defRPr sz="1600" b="1">
                <a:solidFill>
                  <a:srgbClr val="C8DCFF"/>
                </a:solidFill>
                <a:latin typeface="Poppins"/>
              </a:defRPr>
            </a:pPr>
            <a:r>
              <a:t>The 'National AI Portal' (indiaai.gov.in) serves as a central hub for AI-related news, articles, investments, and learning resources, fostering a collaborative ecosystem. This initiative acts as a knowledge repository and networking platform, accelerating information exchange and promoting AI literacy across the nation.</a:t>
            </a:r>
          </a:p>
          <a:p>
            <a:pPr>
              <a:spcBef>
                <a:spcPts val="1000"/>
              </a:spcBef>
              <a:spcAft>
                <a:spcPts val="400"/>
              </a:spcAft>
              <a:defRPr sz="1600" b="1">
                <a:solidFill>
                  <a:srgbClr val="C8DCFF"/>
                </a:solidFill>
                <a:latin typeface="Poppins"/>
              </a:defRPr>
            </a:pPr>
            <a:r>
              <a:t>Establishment of Centers of Excellence (CoEs) in AI across premier educational institutions, such as IITs, aims to bolster cutting-edge research and innovation. These CoEs serve as incubators for advanced AI technologies and talent development, ensuring a steady pipeline of skilled professionals and impactful research outputs.</a:t>
            </a:r>
          </a:p>
        </p:txBody>
      </p:sp>
      <p:sp>
        <p:nvSpPr>
          <p:cNvPr id="4" name="TextBox 3"/>
          <p:cNvSpPr txBox="1"/>
          <p:nvPr/>
        </p:nvSpPr>
        <p:spPr>
          <a:xfrm>
            <a:off x="4754880" y="1280160"/>
            <a:ext cx="3840480" cy="3657600"/>
          </a:xfrm>
          <a:prstGeom prst="rect">
            <a:avLst/>
          </a:prstGeom>
          <a:noFill/>
        </p:spPr>
        <p:txBody>
          <a:bodyPr wrap="square">
            <a:spAutoFit/>
          </a:bodyPr>
          <a:lstStyle/>
          <a:p>
            <a:pPr>
              <a:spcBef>
                <a:spcPts val="1000"/>
              </a:spcBef>
              <a:spcAft>
                <a:spcPts val="400"/>
              </a:spcAft>
              <a:defRPr sz="1600" b="1">
                <a:solidFill>
                  <a:srgbClr val="C8DCFF"/>
                </a:solidFill>
                <a:latin typeface="Poppins"/>
              </a:defRPr>
            </a:pPr>
            <a:r>
              <a:t>Government procurement policies are increasingly favoring AI-enabled solutions, driving demand for domestic AI innovation in public services, e-governance, and defense. This creates a significant market for Indian AI startups and encourages the localization of technology development, supporting the 'Make in India' initiative.</a:t>
            </a:r>
          </a:p>
          <a:p>
            <a:pPr>
              <a:spcBef>
                <a:spcPts val="1000"/>
              </a:spcBef>
              <a:spcAft>
                <a:spcPts val="400"/>
              </a:spcAft>
              <a:defRPr sz="1600" b="1">
                <a:solidFill>
                  <a:srgbClr val="C8DCFF"/>
                </a:solidFill>
                <a:latin typeface="Poppins"/>
              </a:defRPr>
            </a:pPr>
            <a:r>
              <a:t>The Ministry of Electronics and Information Technology (MeitY) launched the 'National Program on AI' to foster AI adoption across various government departments and public sector undertakings. This program facilitates the integration of AI into administrative processes, improving efficiency and service delivery.</a:t>
            </a:r>
          </a:p>
          <a:p>
            <a:pPr>
              <a:spcBef>
                <a:spcPts val="1000"/>
              </a:spcBef>
              <a:spcAft>
                <a:spcPts val="400"/>
              </a:spcAft>
              <a:defRPr sz="1600" b="1">
                <a:solidFill>
                  <a:srgbClr val="C8DCFF"/>
                </a:solidFill>
                <a:latin typeface="Poppins"/>
              </a:defRPr>
            </a:pPr>
            <a:r>
              <a:t>India is actively participating in global AI governance discussions, advocating for a human-centric and ethical approach to AI development and deployment. This proactive stance on international platforms like the Global Partnership on AI (GPAI) shapes future AI norms and standards, reflecting India's values.</a:t>
            </a:r>
          </a:p>
          <a:p>
            <a:pPr>
              <a:spcBef>
                <a:spcPts val="1000"/>
              </a:spcBef>
              <a:spcAft>
                <a:spcPts val="400"/>
              </a:spcAft>
              <a:defRPr sz="1600" b="1">
                <a:solidFill>
                  <a:srgbClr val="C8DCFF"/>
                </a:solidFill>
                <a:latin typeface="Poppins"/>
              </a:defRPr>
            </a:pPr>
            <a:r>
              <a:t>Skill development initiatives, including partnerships with tech giants for AI training programs and certifications, are being scaled up to address the talent gap. These collaborations aim to equip a large workforce with essential AI competencies, ensuring India's readiness for future job markets.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3600" b="1">
                <a:solidFill>
                  <a:srgbClr val="8AB4FF"/>
                </a:solidFill>
                <a:latin typeface="Poppins"/>
              </a:defRPr>
            </a:pPr>
            <a:r>
              <a:t>Future Outlook: India as a Global AI Powerhouse</a:t>
            </a:r>
          </a:p>
        </p:txBody>
      </p:sp>
      <p:sp>
        <p:nvSpPr>
          <p:cNvPr id="3" name="TextBox 2"/>
          <p:cNvSpPr txBox="1"/>
          <p:nvPr/>
        </p:nvSpPr>
        <p:spPr>
          <a:xfrm>
            <a:off x="457200" y="1280160"/>
            <a:ext cx="3840480" cy="3657600"/>
          </a:xfrm>
          <a:prstGeom prst="rect">
            <a:avLst/>
          </a:prstGeom>
          <a:noFill/>
        </p:spPr>
        <p:txBody>
          <a:bodyPr wrap="square">
            <a:spAutoFit/>
          </a:bodyPr>
          <a:lstStyle/>
          <a:p>
            <a:pPr>
              <a:spcBef>
                <a:spcPts val="1000"/>
              </a:spcBef>
              <a:spcAft>
                <a:spcPts val="400"/>
              </a:spcAft>
              <a:defRPr sz="1600" b="1">
                <a:solidFill>
                  <a:srgbClr val="C8DCFF"/>
                </a:solidFill>
                <a:latin typeface="Poppins"/>
              </a:defRPr>
            </a:pPr>
            <a:r>
              <a:t>India's AI market is projected to grow at a Compound Annual Growth Rate (CAGR) of over 20% through 2027, driven by expanding digital infrastructure and rising enterprise AI adoption. This sustained growth underscores India's potential to become a significant global contributor to AI innovation and deployment.</a:t>
            </a:r>
          </a:p>
          <a:p>
            <a:pPr>
              <a:spcBef>
                <a:spcPts val="1000"/>
              </a:spcBef>
              <a:spcAft>
                <a:spcPts val="400"/>
              </a:spcAft>
              <a:defRPr sz="1600" b="1">
                <a:solidFill>
                  <a:srgbClr val="C8DCFF"/>
                </a:solidFill>
                <a:latin typeface="Poppins"/>
              </a:defRPr>
            </a:pPr>
            <a:r>
              <a:t>Emergence of "AI for Bharat" solutions will cater to unique Indian challenges, leveraging vernacular data and context-specific models in agriculture, healthcare, and education. This focus on localized AI ensures broader applicability and greater impact for a diverse population, fostering inclusive growth.</a:t>
            </a:r>
          </a:p>
          <a:p>
            <a:pPr>
              <a:spcBef>
                <a:spcPts val="1000"/>
              </a:spcBef>
              <a:spcAft>
                <a:spcPts val="400"/>
              </a:spcAft>
              <a:defRPr sz="1600" b="1">
                <a:solidFill>
                  <a:srgbClr val="C8DCFF"/>
                </a:solidFill>
                <a:latin typeface="Poppins"/>
              </a:defRPr>
            </a:pPr>
            <a:r>
              <a:t>Strategic partnerships between Indian tech companies and global AI leaders will accelerate knowledge transfer, co-development, and market access for Indian AI products. These collaborations will enhance India's technological capabilities and integrate its AI ecosystem into global value chains.</a:t>
            </a:r>
          </a:p>
        </p:txBody>
      </p:sp>
      <p:sp>
        <p:nvSpPr>
          <p:cNvPr id="4" name="TextBox 3"/>
          <p:cNvSpPr txBox="1"/>
          <p:nvPr/>
        </p:nvSpPr>
        <p:spPr>
          <a:xfrm>
            <a:off x="4754880" y="1280160"/>
            <a:ext cx="3840480" cy="3657600"/>
          </a:xfrm>
          <a:prstGeom prst="rect">
            <a:avLst/>
          </a:prstGeom>
          <a:noFill/>
        </p:spPr>
        <p:txBody>
          <a:bodyPr wrap="square">
            <a:spAutoFit/>
          </a:bodyPr>
          <a:lstStyle/>
          <a:p>
            <a:pPr>
              <a:spcBef>
                <a:spcPts val="1000"/>
              </a:spcBef>
              <a:spcAft>
                <a:spcPts val="400"/>
              </a:spcAft>
              <a:defRPr sz="1600" b="1">
                <a:solidFill>
                  <a:srgbClr val="C8DCFF"/>
                </a:solidFill>
                <a:latin typeface="Poppins"/>
              </a:defRPr>
            </a:pPr>
            <a:r>
              <a:t>Increased R&amp;D investment, both public and private, will drive breakthroughs in areas like explainable AI (XAI), federated learning, and quantum AI, positioning India at the forefront of advanced AI research. This investment is crucial for moving beyond adoption to true innovation leadership.</a:t>
            </a:r>
          </a:p>
          <a:p>
            <a:pPr>
              <a:spcBef>
                <a:spcPts val="1000"/>
              </a:spcBef>
              <a:spcAft>
                <a:spcPts val="400"/>
              </a:spcAft>
              <a:defRPr sz="1600" b="1">
                <a:solidFill>
                  <a:srgbClr val="C8DCFF"/>
                </a:solidFill>
                <a:latin typeface="Poppins"/>
              </a:defRPr>
            </a:pPr>
            <a:r>
              <a:t>Regulatory frameworks will evolve to balance innovation with ethical considerations, providing clarity for AI developers and protecting citizen rights. Adaptive policies, potentially incorporating regulatory sandboxes, will foster responsible AI growth without stifling entrepreneurial spirit.</a:t>
            </a:r>
          </a:p>
          <a:p>
            <a:pPr>
              <a:spcBef>
                <a:spcPts val="1000"/>
              </a:spcBef>
              <a:spcAft>
                <a:spcPts val="400"/>
              </a:spcAft>
              <a:defRPr sz="1600" b="1">
                <a:solidFill>
                  <a:srgbClr val="C8DCFF"/>
                </a:solidFill>
                <a:latin typeface="Poppins"/>
              </a:defRPr>
            </a:pPr>
            <a:r>
              <a:t>India will increasingly leverage its demographic dividend and English-speaking talent pool to export AI services and solutions globally, becoming a preferred outsourcing destination for complex AI projects. This strengthens India's position in the global digital economy and creates high-value jobs.</a:t>
            </a:r>
          </a:p>
          <a:p>
            <a:pPr>
              <a:spcBef>
                <a:spcPts val="1000"/>
              </a:spcBef>
              <a:spcAft>
                <a:spcPts val="400"/>
              </a:spcAft>
              <a:defRPr sz="1600" b="1">
                <a:solidFill>
                  <a:srgbClr val="C8DCFF"/>
                </a:solidFill>
                <a:latin typeface="Poppins"/>
              </a:defRPr>
            </a:pPr>
            <a:r>
              <a:t>Focus on building a robust AI ethics framework, incorporating principles of fairness, transparency, and accountability, will enhance trust in AI systems and promote responsible innovation. This commitment to ethical AI will differentiate India's approach and build a sustainable AI future.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