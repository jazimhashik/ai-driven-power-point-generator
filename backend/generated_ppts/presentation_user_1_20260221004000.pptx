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8AB4FF"/>
                </a:solidFill>
                <a:latin typeface="Arial"/>
              </a:defRPr>
            </a:pPr>
            <a:r>
              <a:t>richest man in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Reliance's Growth &amp; Diversification</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RIL's petrochemicals and refining operations remain its cash cow, consistently generating robust profits through integrated value chains from crude oil to polymers, which provides the financial bedrock for aggressive expansion into new growth sectors. This core strength provides significant capital for new ventures.</a:t>
            </a:r>
          </a:p>
          <a:p>
            <a:pPr>
              <a:spcBef>
                <a:spcPts val="600"/>
              </a:spcBef>
              <a:spcAft>
                <a:spcPts val="300"/>
              </a:spcAft>
              <a:defRPr sz="1600" b="1">
                <a:solidFill>
                  <a:srgbClr val="C8DCFF"/>
                </a:solidFill>
                <a:latin typeface="Arial"/>
              </a:defRPr>
            </a:pPr>
            <a:r>
              <a:t>Jio Platforms, launched in 2016, rapidly became India's largest telecom operator with over 450 million subscribers, disrupting the market with its affordable 4G services and digital ecosystem, which now encompasses content, payments, and cloud services, fundamentally changing how Indians consume digital services.</a:t>
            </a:r>
          </a:p>
          <a:p>
            <a:pPr>
              <a:spcBef>
                <a:spcPts val="600"/>
              </a:spcBef>
              <a:spcAft>
                <a:spcPts val="300"/>
              </a:spcAft>
              <a:defRPr sz="1600" b="1">
                <a:solidFill>
                  <a:srgbClr val="C8DCFF"/>
                </a:solidFill>
                <a:latin typeface="Arial"/>
              </a:defRPr>
            </a:pPr>
            <a:r>
              <a:t>Reliance Retail has emerged as India's largest retailer, integrating over 18,000 physical stores with a burgeoning e-commerce presence like JioMart, covering groceries, electronics, fashion, and luxury, demonstrating a potent strategy to capture India's vast consumer market across all tiers.</a:t>
            </a:r>
          </a:p>
          <a:p>
            <a:pPr>
              <a:spcBef>
                <a:spcPts val="600"/>
              </a:spcBef>
              <a:spcAft>
                <a:spcPts val="300"/>
              </a:spcAft>
              <a:defRPr sz="1600" b="1">
                <a:solidFill>
                  <a:srgbClr val="C8DCFF"/>
                </a:solidFill>
                <a:latin typeface="Arial"/>
              </a:defRPr>
            </a:pPr>
            <a:r>
              <a:t>The strategic shift towards New Energy is paramount, with RIL committing over $80 billion to develop capabilities in solar energy, green hydrogen, and battery storage over the next 10-15 years. This proactive pivot aims to de-risk its fossil fuel heavy portfolio and capitalize on the global energy transition, creating a sustainable future.</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Extensive digital transformation initiatives across all segments leverage AI, IoT, and big data analytics to enhance operational efficiencies, personalize customer experiences, and drive innovation, positioning RIL at the forefront of the technological revolution in India and globally.</a:t>
            </a:r>
          </a:p>
          <a:p>
            <a:pPr>
              <a:spcBef>
                <a:spcPts val="600"/>
              </a:spcBef>
              <a:spcAft>
                <a:spcPts val="300"/>
              </a:spcAft>
              <a:defRPr sz="1600" b="1">
                <a:solidFill>
                  <a:srgbClr val="C8DCFF"/>
                </a:solidFill>
                <a:latin typeface="Arial"/>
              </a:defRPr>
            </a:pPr>
            <a:r>
              <a:t>RIL's inorganic growth strategy includes significant acquisitions and strategic partnerships with global tech giants like Google and Meta for Jio Platforms, and a series of smaller retail acquisitions to consolidate market share and expand product offerings, demonstrating a dynamic approach to market leadership.</a:t>
            </a:r>
          </a:p>
          <a:p>
            <a:pPr>
              <a:spcBef>
                <a:spcPts val="600"/>
              </a:spcBef>
              <a:spcAft>
                <a:spcPts val="300"/>
              </a:spcAft>
              <a:defRPr sz="1600" b="1">
                <a:solidFill>
                  <a:srgbClr val="C8DCFF"/>
                </a:solidFill>
                <a:latin typeface="Arial"/>
              </a:defRPr>
            </a:pPr>
            <a:r>
              <a:t>The company's market capitalization has seen exponential growth over the past decade, reflecting its successful diversification strategy and ability to generate value across multiple high-growth sectors, consistently delivering superior shareholder returns and cementing its position as a market leader.</a:t>
            </a:r>
          </a:p>
          <a:p>
            <a:pPr>
              <a:spcBef>
                <a:spcPts val="600"/>
              </a:spcBef>
              <a:spcAft>
                <a:spcPts val="300"/>
              </a:spcAft>
              <a:defRPr sz="1600" b="1">
                <a:solidFill>
                  <a:srgbClr val="C8DCFF"/>
                </a:solidFill>
                <a:latin typeface="Arial"/>
              </a:defRPr>
            </a:pPr>
            <a:r>
              <a:t>Investment in infrastructure, such as its extensive fiber optic network and renewable energy manufacturing facilities, lays the groundwork for sustained long-term growth, creating a powerful ecosystem that benefits from synergies across its diverse business units and fortifies its competitive advantage.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Pillars of RIL's Success</a:t>
            </a:r>
          </a:p>
        </p:txBody>
      </p:sp>
      <p:sp>
        <p:nvSpPr>
          <p:cNvPr id="3" name="TextBox 2"/>
          <p:cNvSpPr txBox="1"/>
          <p:nvPr/>
        </p:nvSpPr>
        <p:spPr>
          <a:xfrm>
            <a:off x="274320" y="1188720"/>
            <a:ext cx="3931920" cy="297180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Deep vertical integration is a hallmark of RIL's strategy, from sourcing crude oil and refining to producing polymers, then distributing through its retail channels and digital platforms. This control over the entire value chain minimizes costs, enhances efficiency, and ensures quality and supply reliability.</a:t>
            </a:r>
          </a:p>
          <a:p>
            <a:pPr>
              <a:spcBef>
                <a:spcPts val="600"/>
              </a:spcBef>
              <a:spcAft>
                <a:spcPts val="300"/>
              </a:spcAft>
              <a:defRPr sz="1600" b="1">
                <a:solidFill>
                  <a:srgbClr val="C8DCFF"/>
                </a:solidFill>
                <a:latin typeface="Arial"/>
              </a:defRPr>
            </a:pPr>
            <a:r>
              <a:t>A relentless consumer-centric approach, epitomized by Jio's strategy of providing affordable digital services and Reliance Retail's expansive network catering to diverse consumer needs, has driven massive market penetration and brand loyalty, making RIL a household name.</a:t>
            </a:r>
          </a:p>
          <a:p>
            <a:pPr>
              <a:spcBef>
                <a:spcPts val="600"/>
              </a:spcBef>
              <a:spcAft>
                <a:spcPts val="300"/>
              </a:spcAft>
              <a:defRPr sz="1600" b="1">
                <a:solidFill>
                  <a:srgbClr val="C8DCFF"/>
                </a:solidFill>
                <a:latin typeface="Arial"/>
              </a:defRPr>
            </a:pPr>
            <a:r>
              <a:t>Pioneering digital innovation and substantial R&amp;D investments are critical, with Jio Platforms continuously introducing new services like JioFiber, JioPay, and JioCloud, demonstrating a commitment to leading technological advancement and creating new revenue streams in the digital economy.</a:t>
            </a:r>
          </a:p>
          <a:p>
            <a:pPr>
              <a:spcBef>
                <a:spcPts val="600"/>
              </a:spcBef>
              <a:spcAft>
                <a:spcPts val="300"/>
              </a:spcAft>
              <a:defRPr sz="1600" b="1">
                <a:solidFill>
                  <a:srgbClr val="C8DCFF"/>
                </a:solidFill>
                <a:latin typeface="Arial"/>
              </a:defRPr>
            </a:pPr>
            <a:r>
              <a:t>Strategic capital allocation, directing vast resources into high-growth, future-oriented sectors like green energy and digital infrastructure, showcases Ambani's ability to identify and invest in long-term value creation, often with significant upfront capital expenditure for exponential future returns.</a:t>
            </a:r>
          </a:p>
        </p:txBody>
      </p:sp>
      <p:sp>
        <p:nvSpPr>
          <p:cNvPr id="4" name="TextBox 3"/>
          <p:cNvSpPr txBox="1"/>
          <p:nvPr/>
        </p:nvSpPr>
        <p:spPr>
          <a:xfrm>
            <a:off x="4754880" y="1188720"/>
            <a:ext cx="3931920" cy="297180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Robust talent acquisition and leadership development programs ensure a skilled workforce and strong succession planning, attracting top-tier professionals and fostering an innovative culture essential for managing a conglomerate of RIL's scale and complexity.</a:t>
            </a:r>
          </a:p>
          <a:p>
            <a:pPr>
              <a:spcBef>
                <a:spcPts val="600"/>
              </a:spcBef>
              <a:spcAft>
                <a:spcPts val="300"/>
              </a:spcAft>
              <a:defRPr sz="1600" b="1">
                <a:solidFill>
                  <a:srgbClr val="C8DCFF"/>
                </a:solidFill>
                <a:latin typeface="Arial"/>
              </a:defRPr>
            </a:pPr>
            <a:r>
              <a:t>Masterful regulatory navigation and proactive policy advocacy have allowed RIL to operate effectively within India's complex economic environment, often influencing sector-specific policies that support large-scale industrial and digital infrastructure development crucial for national growth.</a:t>
            </a:r>
          </a:p>
          <a:p>
            <a:pPr>
              <a:spcBef>
                <a:spcPts val="600"/>
              </a:spcBef>
              <a:spcAft>
                <a:spcPts val="300"/>
              </a:spcAft>
              <a:defRPr sz="1600" b="1">
                <a:solidFill>
                  <a:srgbClr val="C8DCFF"/>
                </a:solidFill>
                <a:latin typeface="Arial"/>
              </a:defRPr>
            </a:pPr>
            <a:r>
              <a:t>A strong focus on future-proofing operations includes significant investments in sustainability initiatives, reducing carbon footprint across its refining and petrochemical businesses, and spearheading India's transition to a green economy, addressing environmental concerns and future market demands.</a:t>
            </a:r>
          </a:p>
          <a:p>
            <a:pPr>
              <a:spcBef>
                <a:spcPts val="600"/>
              </a:spcBef>
              <a:spcAft>
                <a:spcPts val="300"/>
              </a:spcAft>
              <a:defRPr sz="1600" b="1">
                <a:solidFill>
                  <a:srgbClr val="C8DCFF"/>
                </a:solidFill>
                <a:latin typeface="Arial"/>
              </a:defRPr>
            </a:pPr>
            <a:r>
              <a:t>Leveraging economies of scale is central to RIL's operational efficiency, enabling it to offer competitive pricing in telecom and retail, thereby disrupting existing markets and acquiring significant market share rapidly, making it difficult for smaller competitors to match its scale advantages.</a:t>
            </a:r>
          </a:p>
          <a:p>
            <a:pPr>
              <a:spcBef>
                <a:spcPts val="600"/>
              </a:spcBef>
              <a:spcAft>
                <a:spcPts val="300"/>
              </a:spcAft>
              <a:defRPr sz="1600" b="1">
                <a:solidFill>
                  <a:srgbClr val="C8DCFF"/>
                </a:solidFill>
                <a:latin typeface="Arial"/>
              </a:defRPr>
            </a:pPr>
            <a:r>
              <a:t>Strategic partnerships with global technology leaders (e.g., Google, Meta, Microsoft) provide access to cutting-edge technology, global best practices, and international market insights, accelerating RIL's digital transformation and expanding its global footprint without requiring full acquisitions.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Impact &amp; Future Trajectory</a:t>
            </a:r>
          </a:p>
        </p:txBody>
      </p:sp>
      <p:sp>
        <p:nvSpPr>
          <p:cNvPr id="3" name="TextBox 2"/>
          <p:cNvSpPr txBox="1"/>
          <p:nvPr/>
        </p:nvSpPr>
        <p:spPr>
          <a:xfrm>
            <a:off x="274320" y="1188720"/>
            <a:ext cx="3931920" cy="297180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RIL is a colossal engine for job creation and economic contribution, directly employing hundreds of thousands and indirectly supporting millions more across its vast supply chains, significantly bolstering India's GDP and fostering widespread economic prosperity.</a:t>
            </a:r>
          </a:p>
          <a:p>
            <a:pPr>
              <a:spcBef>
                <a:spcPts val="600"/>
              </a:spcBef>
              <a:spcAft>
                <a:spcPts val="300"/>
              </a:spcAft>
              <a:defRPr sz="1600" b="1">
                <a:solidFill>
                  <a:srgbClr val="C8DCFF"/>
                </a:solidFill>
                <a:latin typeface="Arial"/>
              </a:defRPr>
            </a:pPr>
            <a:r>
              <a:t>Jio's digital inclusion initiatives have democratized internet access for over 450 million Indians, bridging the digital divide, facilitating online education, e-commerce, and digital payments, thereby accelerating India's digital transformation at an unprecedented scale.</a:t>
            </a:r>
          </a:p>
          <a:p>
            <a:pPr>
              <a:spcBef>
                <a:spcPts val="600"/>
              </a:spcBef>
              <a:spcAft>
                <a:spcPts val="300"/>
              </a:spcAft>
              <a:defRPr sz="1600" b="1">
                <a:solidFill>
                  <a:srgbClr val="C8DCFF"/>
                </a:solidFill>
                <a:latin typeface="Arial"/>
              </a:defRPr>
            </a:pPr>
            <a:r>
              <a:t>Reliance Retail has profoundly transformed the Indian retail landscape, introducing organized retail formats, optimizing supply chains, and expanding access to quality products for consumers nationwide, while also empowering local kirana (mom-and-pop) stores through integration platforms like JioMart Partner.</a:t>
            </a:r>
          </a:p>
          <a:p>
            <a:pPr>
              <a:spcBef>
                <a:spcPts val="600"/>
              </a:spcBef>
              <a:spcAft>
                <a:spcPts val="300"/>
              </a:spcAft>
              <a:defRPr sz="1600" b="1">
                <a:solidFill>
                  <a:srgbClr val="C8DCFF"/>
                </a:solidFill>
                <a:latin typeface="Arial"/>
              </a:defRPr>
            </a:pPr>
            <a:r>
              <a:t>As a leader in India's energy transition, RIL's ambitious investments in renewable energy, green hydrogen, and advanced materials position India at the forefront of the global fight against climate change, creating a new sustainable industrial ecosystem and attracting significant green investment.</a:t>
            </a:r>
          </a:p>
        </p:txBody>
      </p:sp>
      <p:sp>
        <p:nvSpPr>
          <p:cNvPr id="4" name="TextBox 3"/>
          <p:cNvSpPr txBox="1"/>
          <p:nvPr/>
        </p:nvSpPr>
        <p:spPr>
          <a:xfrm>
            <a:off x="4754880" y="1188720"/>
            <a:ext cx="3931920" cy="297180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Ambani's ventures enhance the global positioning of Indian businesses, demonstrating that Indian conglomerates can innovate, scale, and compete effectively on a world stage, attracting foreign direct investment and fostering international collaborations across diverse sectors.</a:t>
            </a:r>
          </a:p>
          <a:p>
            <a:pPr>
              <a:spcBef>
                <a:spcPts val="600"/>
              </a:spcBef>
              <a:spcAft>
                <a:spcPts val="300"/>
              </a:spcAft>
              <a:defRPr sz="1600" b="1">
                <a:solidFill>
                  <a:srgbClr val="C8DCFF"/>
                </a:solidFill>
                <a:latin typeface="Arial"/>
              </a:defRPr>
            </a:pPr>
            <a:r>
              <a:t>Facing challenges from intense competition, evolving regulatory landscapes, and global economic volatility, RIL's agility in adapting its strategies, such as its continuous innovation in telecom and aggressive expansion in retail, is crucial for sustained dominance.</a:t>
            </a:r>
          </a:p>
          <a:p>
            <a:pPr>
              <a:spcBef>
                <a:spcPts val="600"/>
              </a:spcBef>
              <a:spcAft>
                <a:spcPts val="300"/>
              </a:spcAft>
              <a:defRPr sz="1600" b="1">
                <a:solidFill>
                  <a:srgbClr val="C8DCFF"/>
                </a:solidFill>
                <a:latin typeface="Arial"/>
              </a:defRPr>
            </a:pPr>
            <a:r>
              <a:t>The future outlook for RIL involves continued aggressive expansion into new growth vectors, including artificial intelligence, quantum computing, Web3 technologies, and specialized manufacturing, leveraging its existing digital infrastructure and consumer base to capture emerging market opportunities.</a:t>
            </a:r>
          </a:p>
          <a:p>
            <a:pPr>
              <a:spcBef>
                <a:spcPts val="600"/>
              </a:spcBef>
              <a:spcAft>
                <a:spcPts val="300"/>
              </a:spcAft>
              <a:defRPr sz="1600" b="1">
                <a:solidFill>
                  <a:srgbClr val="C8DCFF"/>
                </a:solidFill>
                <a:latin typeface="Arial"/>
              </a:defRPr>
            </a:pPr>
            <a:r>
              <a:t>Sustaining profitability in traditional sectors while heavily investing in new, capital-intensive ventures requires exceptional financial acumen and risk management, which RIL has consistently demonstrated through strategic divestments and attracting large global investments.</a:t>
            </a:r>
          </a:p>
          <a:p>
            <a:pPr>
              <a:spcBef>
                <a:spcPts val="600"/>
              </a:spcBef>
              <a:spcAft>
                <a:spcPts val="300"/>
              </a:spcAft>
              <a:defRPr sz="1600" b="1">
                <a:solidFill>
                  <a:srgbClr val="C8DCFF"/>
                </a:solidFill>
                <a:latin typeface="Arial"/>
              </a:defRPr>
            </a:pPr>
            <a:r>
              <a:t>RIL's vision extends beyond mere profit, aiming to create integrated ecosystems across digital, retail, and energy sectors that enhance the quality of life for Indian citizens, reinforcing its role not just as a business leader but as a national development partner.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Key Learnings &amp; Future Outlook</a:t>
            </a:r>
          </a:p>
        </p:txBody>
      </p:sp>
      <p:sp>
        <p:nvSpPr>
          <p:cNvPr id="3" name="TextBox 2"/>
          <p:cNvSpPr txBox="1"/>
          <p:nvPr/>
        </p:nvSpPr>
        <p:spPr>
          <a:xfrm>
            <a:off x="274320" y="1188720"/>
            <a:ext cx="3931920" cy="297180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Mukesh Ambani's strategic genius lies in his audacious vision to build businesses at unparalleled scale, consistently transforming industries rather than merely competing within them, exemplified by Jio's market disruption and the massive Jamnagar refinery expansion.</a:t>
            </a:r>
          </a:p>
          <a:p>
            <a:pPr>
              <a:spcBef>
                <a:spcPts val="600"/>
              </a:spcBef>
              <a:spcAft>
                <a:spcPts val="300"/>
              </a:spcAft>
              <a:defRPr sz="1600" b="1">
                <a:solidFill>
                  <a:srgbClr val="C8DCFF"/>
                </a:solidFill>
                <a:latin typeface="Arial"/>
              </a:defRPr>
            </a:pPr>
            <a:r>
              <a:t>Diversification beyond core strengths into high-growth, future-oriented sectors like digital services and green energy is a critical element of RIL's resilience and growth, enabling it to hedge against cyclical downturns in traditional segments and tap into new market opportunities.</a:t>
            </a:r>
          </a:p>
          <a:p>
            <a:pPr>
              <a:spcBef>
                <a:spcPts val="600"/>
              </a:spcBef>
              <a:spcAft>
                <a:spcPts val="300"/>
              </a:spcAft>
              <a:defRPr sz="1600" b="1">
                <a:solidFill>
                  <a:srgbClr val="C8DCFF"/>
                </a:solidFill>
                <a:latin typeface="Arial"/>
              </a:defRPr>
            </a:pPr>
            <a:r>
              <a:t>A relentless focus on the consumer, understanding their needs and delivering value through affordability and accessibility, has been instrumental in building massive customer bases for both Jio and Reliance Retail, fostering loyalty and driving market penetration.</a:t>
            </a:r>
          </a:p>
          <a:p>
            <a:pPr>
              <a:spcBef>
                <a:spcPts val="600"/>
              </a:spcBef>
              <a:spcAft>
                <a:spcPts val="300"/>
              </a:spcAft>
              <a:defRPr sz="1600" b="1">
                <a:solidFill>
                  <a:srgbClr val="C8DCFF"/>
                </a:solidFill>
                <a:latin typeface="Arial"/>
              </a:defRPr>
            </a:pPr>
            <a:r>
              <a:t>Embracing technological innovation and continuous R&amp;D is non-negotiable for long-term success; RIL's substantial investments in AI, IoT, and advanced manufacturing are testament to its commitment to staying ahead of the curve and creating competitive advantages.</a:t>
            </a:r>
          </a:p>
        </p:txBody>
      </p:sp>
      <p:sp>
        <p:nvSpPr>
          <p:cNvPr id="4" name="TextBox 3"/>
          <p:cNvSpPr txBox="1"/>
          <p:nvPr/>
        </p:nvSpPr>
        <p:spPr>
          <a:xfrm>
            <a:off x="4754880" y="1188720"/>
            <a:ext cx="3931920" cy="297180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RIL's significant economic and social impact, from job creation to digital inclusion and infrastructure development, underscores the critical role of large conglomerates in national development and their ability to drive systemic change.</a:t>
            </a:r>
          </a:p>
          <a:p>
            <a:pPr>
              <a:spcBef>
                <a:spcPts val="600"/>
              </a:spcBef>
              <a:spcAft>
                <a:spcPts val="300"/>
              </a:spcAft>
              <a:defRPr sz="1600" b="1">
                <a:solidFill>
                  <a:srgbClr val="C8DCFF"/>
                </a:solidFill>
                <a:latin typeface="Arial"/>
              </a:defRPr>
            </a:pPr>
            <a:r>
              <a:t>The future trajectory of RIL will be defined by its leadership in sustainability and new energy, its ongoing digital transformation across all verticals, and its ability to integrate emerging technologies like AI and blockchain into its expansive ecosystem for synergistic growth.</a:t>
            </a:r>
          </a:p>
          <a:p>
            <a:pPr>
              <a:spcBef>
                <a:spcPts val="600"/>
              </a:spcBef>
              <a:spcAft>
                <a:spcPts val="300"/>
              </a:spcAft>
              <a:defRPr sz="1600" b="1">
                <a:solidFill>
                  <a:srgbClr val="C8DCFF"/>
                </a:solidFill>
                <a:latin typeface="Arial"/>
              </a:defRPr>
            </a:pPr>
            <a:r>
              <a:t>Maintaining a strong balance sheet and attracting global investment partners will be essential for funding the capital-intensive ventures in new energy and next-generation technologies, demonstrating financial prudence alongside ambitious growth plans.</a:t>
            </a:r>
          </a:p>
          <a:p>
            <a:pPr>
              <a:spcBef>
                <a:spcPts val="600"/>
              </a:spcBef>
              <a:spcAft>
                <a:spcPts val="300"/>
              </a:spcAft>
              <a:defRPr sz="1600" b="1">
                <a:solidFill>
                  <a:srgbClr val="C8DCFF"/>
                </a:solidFill>
                <a:latin typeface="Arial"/>
              </a:defRPr>
            </a:pPr>
            <a:r>
              <a:t>Ultimately, Ambani's leadership provides a powerful case study in long-term strategic planning, aggressive execution, and the courage to make bold, transformative investments that redefine national economies and secure future prosperity.</a:t>
            </a:r>
          </a:p>
          <a:p>
            <a:pPr>
              <a:spcBef>
                <a:spcPts val="600"/>
              </a:spcBef>
              <a:spcAft>
                <a:spcPts val="300"/>
              </a:spcAft>
              <a:defRPr sz="1600" b="1">
                <a:solidFill>
                  <a:srgbClr val="C8DCFF"/>
                </a:solidFill>
                <a:latin typeface="Arial"/>
              </a:defRPr>
            </a:pPr>
            <a:r>
              <a:t>The continuous pursuit of excellence, operational efficiency, and a forward-looking perspective on global trends, such as decarbonization and digitalization, ensures RIL's enduring relevance and continued position as a global industrial and technological powerhouse.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